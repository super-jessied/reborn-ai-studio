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82" r:id="rId6"/>
    <p:sldId id="260" r:id="rId7"/>
    <p:sldId id="261" r:id="rId8"/>
    <p:sldId id="262" r:id="rId9"/>
    <p:sldId id="263" r:id="rId10"/>
    <p:sldId id="298" r:id="rId11"/>
    <p:sldId id="299" r:id="rId12"/>
    <p:sldId id="300" r:id="rId13"/>
    <p:sldId id="301" r:id="rId14"/>
    <p:sldId id="264" r:id="rId15"/>
    <p:sldId id="265" r:id="rId16"/>
    <p:sldId id="266" r:id="rId17"/>
    <p:sldId id="267" r:id="rId18"/>
    <p:sldId id="284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407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A4DA4-06DF-24D9-694A-EA9BD094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336B7-F2CF-4242-4A14-C3BF88F7F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8C150-77F5-6746-33D3-35D420AC1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47890-72BD-7834-C4AF-507F013A7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6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0C661-AD1D-8CC6-A74D-00C51AB94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276B4-EA1B-00BD-7EE7-19DFD2021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36C45-CDFC-04AB-17CC-2290827E7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85EFA-1DFE-CB1C-A5D3-BA6D5D6D5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18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A82FE-DD05-4A17-AEA2-48BB6F18B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2026-08-11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9ECB7C-64BA-4E2B-AD11-89334A1EEC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5409F-D80B-451F-8D25-6CEC3E4B81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498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it.ly/4hyrz23" TargetMode="External"/><Relationship Id="rId4" Type="http://schemas.openxmlformats.org/officeDocument/2006/relationships/hyperlink" Target="https://padlet.com/jsslee751/re-born-ai-69zp2rx6zl3tyjy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D:\&#52972;&#52432;&#51076;&#54057;&#53944;\&#44400;&#54252;&#47928;&#54868;&#51116;&#45800;\&#44400;&#54252;_Reborn%202026\3&#52264;&#49884;\ReBorn_AI_3&#54924;&#52264;_Suno_&#51020;&#50501;&#49828;&#53440;&#51068;_&#44592;&#52488;_&#49341;&#51077;&#50857;.pptx#-1,1,PowerPoint &#54532;&#47112;&#51232;&#53580;&#51060;&#49496;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D:\&#52972;&#52432;&#51076;&#54057;&#53944;\&#44400;&#54252;&#47928;&#54868;&#51116;&#45800;\&#44400;&#54252;_Reborn%202026\3&#52264;&#49884;\&#44400;&#54252;_ReBorn_AI&#54876;&#50857;_Flow_Seedance_&#49892;&#49845;&#44053;&#51032;&#50857;&#65288;3&#52264;%20&#51081;&#50668;%20&#49884;&#44036;_%20flow%20&#51473;&#49900;&#65289;.pptx#-1,1,PowerPoint &#54532;&#47112;&#51232;&#53580;&#51060;&#49496;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01</a:t>
            </a:r>
            <a:endParaRPr lang="en-US" sz="850" dirty="0"/>
          </a:p>
        </p:txBody>
      </p:sp>
      <p:pic>
        <p:nvPicPr>
          <p:cNvPr id="3" name="Image 0" descr="/mnt/data/a_cozy_cinematic_softly_lit_interior_scene_with_16x9_dark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76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7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B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3회차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645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퍼스널 비주얼을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8컷 이야기와 음악으로 확장하기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13232" y="331012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9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Story · Image · Suno · Flow/Seedance 맛보기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흐름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3시간, 이렇게 갑니다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→ 재료 만들기 → 4회차 영상 제작 준비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737360" cy="123444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081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8컷 스토리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834640"/>
            <a:ext cx="1737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3081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생성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54680" y="3703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12080" y="2834640"/>
            <a:ext cx="1737360" cy="123444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3081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 음악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94960" y="3703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52360" y="2834640"/>
            <a:ext cx="1737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62088" y="3081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음악-컷 매칭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35240" y="3703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92640" y="2834640"/>
            <a:ext cx="1737360" cy="123444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02368" y="3081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영상툴 맛보기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75520" y="3703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120640"/>
            <a:ext cx="101498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오늘은 완성본을 만드는 날이 아니라, 다음 시간에 영상으로 바꿀 “좋은 재료”를 만드는 날입니다.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우리는 어디까지 왔을까요?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2회차까지 만든 퍼스널 비주얼이 오늘의 출발점입니다.</a:t>
            </a:r>
            <a:endParaRPr lang="en-US" sz="1600" dirty="0"/>
          </a:p>
        </p:txBody>
      </p:sp>
      <p:pic>
        <p:nvPicPr>
          <p:cNvPr id="6" name="Image 0" descr="/mnt/data/a_wide_softly_lit_classroom_workshop_scene_a_mod_16x9.jpg"/>
          <p:cNvPicPr>
            <a:picLocks noChangeAspect="1"/>
          </p:cNvPicPr>
          <p:nvPr/>
        </p:nvPicPr>
        <p:blipFill>
          <a:blip r:embed="rId3"/>
          <a:srcRect l="68" r="68"/>
          <a:stretch/>
        </p:blipFill>
        <p:spPr>
          <a:xfrm>
            <a:off x="6812280" y="1143000"/>
            <a:ext cx="4480560" cy="2523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2331720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386584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71600" y="23682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나를 이해하는 질문 정리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68680" y="2990088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044952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371600" y="30266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비주얼 방향 한 문장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68680" y="3648456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703320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71600" y="3685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 키워드와 프롬프트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68680" y="4306824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361688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371600" y="43434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퍼스널 비주얼 카드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4876800" y="4466844"/>
            <a:ext cx="5943600" cy="1755648"/>
          </a:xfrm>
          <a:prstGeom prst="rect">
            <a:avLst/>
          </a:prstGeom>
          <a:solidFill>
            <a:srgbClr val="F6EFE3"/>
          </a:solidFill>
          <a:ln w="12700">
            <a:solidFill>
              <a:srgbClr val="EADDCB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4507992"/>
            <a:ext cx="59283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오늘부터는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“나의 이미지”에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시간과 소리를 더합니다.</a:t>
            </a:r>
            <a:endParaRPr lang="en-US" dirty="0"/>
          </a:p>
        </p:txBody>
      </p:sp>
      <p:sp>
        <p:nvSpPr>
          <p:cNvPr id="21" name="실행 단추: 앞으로 또는 다음으로 이동 20">
            <a:hlinkClick r:id="rId4" highlightClick="1"/>
            <a:extLst>
              <a:ext uri="{FF2B5EF4-FFF2-40B4-BE49-F238E27FC236}">
                <a16:creationId xmlns:a16="http://schemas.microsoft.com/office/drawing/2014/main" id="{3E8317E1-5E31-D0DB-D377-D24E91A3C099}"/>
              </a:ext>
            </a:extLst>
          </p:cNvPr>
          <p:cNvSpPr/>
          <p:nvPr/>
        </p:nvSpPr>
        <p:spPr>
          <a:xfrm>
            <a:off x="11475017" y="876025"/>
            <a:ext cx="439615" cy="285926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34A05-0A86-F683-0299-6A4FA54AB47E}"/>
              </a:ext>
            </a:extLst>
          </p:cNvPr>
          <p:cNvSpPr txBox="1"/>
          <p:nvPr/>
        </p:nvSpPr>
        <p:spPr>
          <a:xfrm>
            <a:off x="7612950" y="235985"/>
            <a:ext cx="4357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hlinkClick r:id="rId5"/>
              </a:rPr>
              <a:t>https://bit.ly/4hyrz23</a:t>
            </a:r>
            <a:r>
              <a:rPr lang="en-US" altLang="ko-KR" sz="3600" dirty="0"/>
              <a:t> 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목표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79" y="804672"/>
            <a:ext cx="71059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정적인 카드에서 움직이는 작품으로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퍼스널 비주얼을 영상 작품으로 발전시키는 준비 단계</a:t>
            </a:r>
            <a:endParaRPr lang="en-US" sz="1600" dirty="0"/>
          </a:p>
        </p:txBody>
      </p:sp>
      <p:pic>
        <p:nvPicPr>
          <p:cNvPr id="6" name="Image 0" descr="/mnt/data/a_wide_soft_illustrated_infographic_style_scene_w_16x9.jpg"/>
          <p:cNvPicPr>
            <a:picLocks noChangeAspect="1"/>
          </p:cNvPicPr>
          <p:nvPr/>
        </p:nvPicPr>
        <p:blipFill>
          <a:blip r:embed="rId3"/>
          <a:srcRect l="22" r="22"/>
          <a:stretch/>
        </p:blipFill>
        <p:spPr>
          <a:xfrm>
            <a:off x="6537960" y="1901952"/>
            <a:ext cx="4663440" cy="2624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2402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52728" y="22539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나를 보여주는 8컷 장면을 정한다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77063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52728" y="27843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장면을 이미지로 만든다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33009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52728" y="33147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나에게 어울리는 음악을 만든다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8680" y="38313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52728" y="38450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음악 45~60초 구간을 고른다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" y="43616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52728" y="43754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Flow/Seedance 화면을 한 번 열어본다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8A32-E2D8-AB7A-DE13-6C443F37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08333F-4F6D-2448-AFFF-8A20035717E3}"/>
              </a:ext>
            </a:extLst>
          </p:cNvPr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03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E0B4B7-D425-F33B-4ADD-17830B64E76F}"/>
              </a:ext>
            </a:extLst>
          </p:cNvPr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20B77C-E2F1-B3B5-9DCD-9AC3D1A2C96F}"/>
              </a:ext>
            </a:extLst>
          </p:cNvPr>
          <p:cNvSpPr/>
          <p:nvPr/>
        </p:nvSpPr>
        <p:spPr>
          <a:xfrm>
            <a:off x="640080" y="8046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우리는 어디까지 왔을까요?</a:t>
            </a:r>
            <a:endParaRPr lang="en-US" sz="31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0CD92E5-4117-95FC-BF06-6A37B5766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20828"/>
            <a:ext cx="6020640" cy="233395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E487293-AD91-6577-6505-2355F933F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20" y="4176575"/>
            <a:ext cx="5658640" cy="209579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1E34B9D-CB6A-93EC-7803-5E85532E3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048" y="1555832"/>
            <a:ext cx="5071032" cy="509074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32CE9D6-854A-4096-3EB2-476A7005CF44}"/>
              </a:ext>
            </a:extLst>
          </p:cNvPr>
          <p:cNvSpPr txBox="1"/>
          <p:nvPr/>
        </p:nvSpPr>
        <p:spPr>
          <a:xfrm>
            <a:off x="9787597" y="2505670"/>
            <a:ext cx="19014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전면</a:t>
            </a:r>
            <a:r>
              <a:rPr lang="en-US" altLang="ko-KR" b="1" dirty="0"/>
              <a:t>, </a:t>
            </a:r>
            <a:r>
              <a:rPr lang="ko-KR" altLang="en-US" b="1" dirty="0"/>
              <a:t>정면</a:t>
            </a:r>
            <a:r>
              <a:rPr lang="en-US" altLang="ko-KR" b="1" dirty="0"/>
              <a:t>, </a:t>
            </a:r>
            <a:r>
              <a:rPr lang="ko-KR" altLang="en-US" b="1" dirty="0"/>
              <a:t>후면</a:t>
            </a:r>
            <a:r>
              <a:rPr lang="en-US" altLang="ko-KR" b="1" dirty="0"/>
              <a:t>, </a:t>
            </a:r>
          </a:p>
          <a:p>
            <a:r>
              <a:rPr lang="ko-KR" altLang="en-US" b="1" dirty="0"/>
              <a:t>얼굴 좌</a:t>
            </a:r>
            <a:r>
              <a:rPr lang="en-US" altLang="ko-KR" b="1" dirty="0"/>
              <a:t>/</a:t>
            </a:r>
            <a:r>
              <a:rPr lang="ko-KR" altLang="en-US" b="1" dirty="0"/>
              <a:t>우</a:t>
            </a:r>
            <a:r>
              <a:rPr lang="en-US" altLang="ko-KR" b="1" dirty="0"/>
              <a:t>/</a:t>
            </a:r>
            <a:r>
              <a:rPr lang="ko-KR" altLang="en-US" b="1" dirty="0"/>
              <a:t>정면</a:t>
            </a:r>
            <a:endParaRPr lang="en-US" altLang="ko-KR" b="1" dirty="0"/>
          </a:p>
          <a:p>
            <a:r>
              <a:rPr lang="ko-KR" altLang="en-US" b="1" dirty="0"/>
              <a:t>상반신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CAA686B-68FB-E0DA-3C6C-906269AFA97A}"/>
              </a:ext>
            </a:extLst>
          </p:cNvPr>
          <p:cNvSpPr/>
          <p:nvPr/>
        </p:nvSpPr>
        <p:spPr>
          <a:xfrm>
            <a:off x="8792308" y="879231"/>
            <a:ext cx="2759612" cy="7415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캐릭터 시트</a:t>
            </a:r>
            <a:endParaRPr lang="en-US" altLang="ko-KR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특히</a:t>
            </a:r>
            <a:r>
              <a:rPr lang="en-US" altLang="ko-K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영상 </a:t>
            </a:r>
            <a:r>
              <a:rPr lang="ko-KR" alt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제작시</a:t>
            </a:r>
            <a:r>
              <a:rPr lang="ko-KR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유용</a:t>
            </a:r>
          </a:p>
        </p:txBody>
      </p:sp>
    </p:spTree>
    <p:extLst>
      <p:ext uri="{BB962C8B-B14F-4D97-AF65-F5344CB8AC3E}">
        <p14:creationId xmlns:p14="http://schemas.microsoft.com/office/powerpoint/2010/main" val="3871173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05</a:t>
            </a:r>
            <a:endParaRPr lang="en-US" sz="850" dirty="0"/>
          </a:p>
        </p:txBody>
      </p:sp>
      <p:pic>
        <p:nvPicPr>
          <p:cNvPr id="3" name="Image 0" descr="/mnt/data/a_wide_soft_illustrated_infographic_style_scene_w_16x9_dark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85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B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결과물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" y="126187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수업이 끝날 때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손에 남아야 할 것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31520" y="281635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88950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8컷 스토리라인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063240" y="281635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8A6A2"/>
          </a:solidFill>
          <a:ln w="12700">
            <a:solidFill>
              <a:srgbClr val="48A6A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72968" y="288950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4~8장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31520" y="341071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348386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 음악 1곡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063240" y="341071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8A6A2"/>
          </a:solidFill>
          <a:ln w="12700">
            <a:solidFill>
              <a:srgbClr val="48A6A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72968" y="348386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사용할 음악 구간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31520" y="4005072"/>
            <a:ext cx="2331720" cy="512064"/>
          </a:xfrm>
          <a:prstGeom prst="roundRect">
            <a:avLst>
              <a:gd name="adj" fmla="val 21053"/>
            </a:avLst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4078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Flow/Seedance 체험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8컷인가?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1분 영상은 8개의 장면으로 충분합니다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많은 장면보다 흐름이 선명한 장면이 중요합니다.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241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8컷은 “나의 세계 → 나의 행동 → 나의 변화 → 마무리”를 보여주기에 적당한 구조입니다.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1051560" cy="86868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03120" y="3246120"/>
            <a:ext cx="1051560" cy="86868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520440" y="3246120"/>
            <a:ext cx="1051560" cy="86868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37760" y="3246120"/>
            <a:ext cx="1051560" cy="86868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55080" y="3246120"/>
            <a:ext cx="1051560" cy="86868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772400" y="3246120"/>
            <a:ext cx="1051560" cy="86868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189720" y="3246120"/>
            <a:ext cx="1051560" cy="86868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성장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0607040" y="3246120"/>
            <a:ext cx="1051560" cy="86868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80192" y="3538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97280" y="5074920"/>
            <a:ext cx="9966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기억하세요: “멋진 장면 8개”보다 “서로 이어지는 장면 8개”가 더 좋습니다.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8컷 기본 구조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틀에 맞춰 내 장면을 채워봅니다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컷은 한 문장만 써도 충분합니다.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112" y="2148840"/>
            <a:ext cx="256032" cy="256032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899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25880" y="2157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1579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어디에 있는가</a:t>
            </a:r>
            <a:endParaRPr lang="en-US" b="1" dirty="0"/>
          </a:p>
        </p:txBody>
      </p:sp>
      <p:sp>
        <p:nvSpPr>
          <p:cNvPr id="10" name="Shape 8"/>
          <p:cNvSpPr/>
          <p:nvPr/>
        </p:nvSpPr>
        <p:spPr>
          <a:xfrm>
            <a:off x="896112" y="2569464"/>
            <a:ext cx="256032" cy="256032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1061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25880" y="2578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25008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분위기를 보여주는 배경</a:t>
            </a:r>
            <a:endParaRPr lang="en-US" b="1" dirty="0"/>
          </a:p>
        </p:txBody>
      </p:sp>
      <p:sp>
        <p:nvSpPr>
          <p:cNvPr id="14" name="Shape 12"/>
          <p:cNvSpPr/>
          <p:nvPr/>
        </p:nvSpPr>
        <p:spPr>
          <a:xfrm>
            <a:off x="896112" y="2990088"/>
            <a:ext cx="256032" cy="256032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03123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나의 등장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80360" y="29992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안에서 나는 무엇을 하는가</a:t>
            </a:r>
            <a:endParaRPr lang="en-US" b="1" dirty="0"/>
          </a:p>
        </p:txBody>
      </p:sp>
      <p:sp>
        <p:nvSpPr>
          <p:cNvPr id="18" name="Shape 16"/>
          <p:cNvSpPr/>
          <p:nvPr/>
        </p:nvSpPr>
        <p:spPr>
          <a:xfrm>
            <a:off x="896112" y="3410712"/>
            <a:ext cx="256032" cy="256032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45186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25880" y="3419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80360" y="341985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나를 잘 드러내는 작은 행동</a:t>
            </a:r>
            <a:endParaRPr lang="en-US" b="1" dirty="0"/>
          </a:p>
        </p:txBody>
      </p:sp>
      <p:sp>
        <p:nvSpPr>
          <p:cNvPr id="22" name="Shape 20"/>
          <p:cNvSpPr/>
          <p:nvPr/>
        </p:nvSpPr>
        <p:spPr>
          <a:xfrm>
            <a:off x="896112" y="3831336"/>
            <a:ext cx="256032" cy="256032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8724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25880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 변화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80360" y="38404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생각이나 마음이 움직이는 순간</a:t>
            </a:r>
            <a:endParaRPr lang="en-US" b="1" dirty="0"/>
          </a:p>
        </p:txBody>
      </p:sp>
      <p:sp>
        <p:nvSpPr>
          <p:cNvPr id="26" name="Shape 24"/>
          <p:cNvSpPr/>
          <p:nvPr/>
        </p:nvSpPr>
        <p:spPr>
          <a:xfrm>
            <a:off x="896112" y="4251960"/>
            <a:ext cx="256032" cy="256032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2931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325880" y="4261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행동/전환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880360" y="42611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무언가 시작하거나 움직이는 장면</a:t>
            </a:r>
            <a:endParaRPr lang="en-US" b="1" dirty="0"/>
          </a:p>
        </p:txBody>
      </p:sp>
      <p:sp>
        <p:nvSpPr>
          <p:cNvPr id="30" name="Shape 28"/>
          <p:cNvSpPr/>
          <p:nvPr/>
        </p:nvSpPr>
        <p:spPr>
          <a:xfrm>
            <a:off x="896112" y="4672584"/>
            <a:ext cx="256032" cy="256032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71373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325880" y="4681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성장/확장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880360" y="46817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조금 더 나아간 모습</a:t>
            </a:r>
            <a:endParaRPr lang="en-US" b="1" dirty="0"/>
          </a:p>
        </p:txBody>
      </p:sp>
      <p:sp>
        <p:nvSpPr>
          <p:cNvPr id="34" name="Shape 32"/>
          <p:cNvSpPr/>
          <p:nvPr/>
        </p:nvSpPr>
        <p:spPr>
          <a:xfrm>
            <a:off x="896112" y="5093208"/>
            <a:ext cx="256032" cy="256032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13435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25880" y="5102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880360" y="504502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남기고 싶은 마지막 이미지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새벽빛 작업실의 나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퍼스널 비주얼의 분위기를 8개의 장면으로 확장합니다.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4800600" cy="45720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042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새벽 햇살이 창문으로 들어온다</a:t>
            </a:r>
            <a:endParaRPr lang="en-US" b="1" dirty="0"/>
          </a:p>
        </p:txBody>
      </p:sp>
      <p:sp>
        <p:nvSpPr>
          <p:cNvPr id="8" name="Shape 6"/>
          <p:cNvSpPr/>
          <p:nvPr/>
        </p:nvSpPr>
        <p:spPr>
          <a:xfrm>
            <a:off x="6126480" y="2194560"/>
            <a:ext cx="4800600" cy="45720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23042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책과 노트북이 놓인 작업실</a:t>
            </a:r>
            <a:endParaRPr lang="en-US" b="1" dirty="0"/>
          </a:p>
        </p:txBody>
      </p:sp>
      <p:sp>
        <p:nvSpPr>
          <p:cNvPr id="10" name="Shape 8"/>
          <p:cNvSpPr/>
          <p:nvPr/>
        </p:nvSpPr>
        <p:spPr>
          <a:xfrm>
            <a:off x="777240" y="2852928"/>
            <a:ext cx="4800600" cy="45720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9626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조용히 자리에 앉는 나</a:t>
            </a:r>
            <a:endParaRPr lang="en-US" b="1" dirty="0"/>
          </a:p>
        </p:txBody>
      </p:sp>
      <p:sp>
        <p:nvSpPr>
          <p:cNvPr id="12" name="Shape 10"/>
          <p:cNvSpPr/>
          <p:nvPr/>
        </p:nvSpPr>
        <p:spPr>
          <a:xfrm>
            <a:off x="6126480" y="2852928"/>
            <a:ext cx="4800600" cy="45720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29626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차를 마시며 메모하는 모습</a:t>
            </a:r>
            <a:endParaRPr lang="en-US" b="1" dirty="0"/>
          </a:p>
        </p:txBody>
      </p:sp>
      <p:sp>
        <p:nvSpPr>
          <p:cNvPr id="14" name="Shape 12"/>
          <p:cNvSpPr/>
          <p:nvPr/>
        </p:nvSpPr>
        <p:spPr>
          <a:xfrm>
            <a:off x="777240" y="3511296"/>
            <a:ext cx="4800600" cy="45720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62102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잠시 창밖을 바라보는 순간</a:t>
            </a:r>
            <a:endParaRPr lang="en-US" b="1" dirty="0"/>
          </a:p>
        </p:txBody>
      </p:sp>
      <p:sp>
        <p:nvSpPr>
          <p:cNvPr id="16" name="Shape 14"/>
          <p:cNvSpPr/>
          <p:nvPr/>
        </p:nvSpPr>
        <p:spPr>
          <a:xfrm>
            <a:off x="6126480" y="3511296"/>
            <a:ext cx="4800600" cy="45720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62102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새로운 계획을 적기 시작함</a:t>
            </a:r>
            <a:endParaRPr lang="en-US" b="1" dirty="0"/>
          </a:p>
        </p:txBody>
      </p:sp>
      <p:sp>
        <p:nvSpPr>
          <p:cNvPr id="18" name="Shape 16"/>
          <p:cNvSpPr/>
          <p:nvPr/>
        </p:nvSpPr>
        <p:spPr>
          <a:xfrm>
            <a:off x="777240" y="4169664"/>
            <a:ext cx="4800600" cy="45720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2793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7. 집중해서 작업하는 나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6126480" y="4169664"/>
            <a:ext cx="4800600" cy="45720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42245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8. 햇살 속에서 미소 짓는 엔딩</a:t>
            </a:r>
            <a:endParaRPr lang="en-US" sz="1600" b="1" dirty="0"/>
          </a:p>
        </p:txBody>
      </p:sp>
      <p:sp>
        <p:nvSpPr>
          <p:cNvPr id="22" name="Text 20"/>
          <p:cNvSpPr/>
          <p:nvPr/>
        </p:nvSpPr>
        <p:spPr>
          <a:xfrm>
            <a:off x="960120" y="557784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예시를 그대로 따라 하기보다, 내 카드의 시간·공간·감정으로 바꾸면 됩니다.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2ACB4D-F8AE-4AA0-90ED-9676B8427B12}"/>
              </a:ext>
            </a:extLst>
          </p:cNvPr>
          <p:cNvSpPr>
            <a:spLocks noGrp="1"/>
          </p:cNvSpPr>
          <p:nvPr/>
        </p:nvSpPr>
        <p:spPr>
          <a:xfrm>
            <a:off x="502920" y="23774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C6452"/>
                </a:solidFill>
              </a:rPr>
              <a:t>AI활용 2차시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9BC09-8E56-4A6B-A496-332D749252DE}"/>
              </a:ext>
            </a:extLst>
          </p:cNvPr>
          <p:cNvSpPr>
            <a:spLocks noGrp="1"/>
          </p:cNvSpPr>
          <p:nvPr/>
        </p:nvSpPr>
        <p:spPr>
          <a:xfrm>
            <a:off x="9784080" y="228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 b="0">
                <a:solidFill>
                  <a:srgbClr val="68716C"/>
                </a:solidFill>
              </a:rPr>
              <a:t>Re_Born AI Studio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DC176-61E4-458B-9A6E-6769C23C167E}"/>
              </a:ext>
            </a:extLst>
          </p:cNvPr>
          <p:cNvSpPr>
            <a:spLocks noGrp="1"/>
          </p:cNvSpPr>
          <p:nvPr/>
        </p:nvSpPr>
        <p:spPr>
          <a:xfrm>
            <a:off x="11448288" y="2286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 b="1">
                <a:solidFill>
                  <a:srgbClr val="68716C"/>
                </a:solidFill>
              </a:rPr>
              <a:t>34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5556-760E-45B6-AB6F-20F1CE093A77}"/>
              </a:ext>
            </a:extLst>
          </p:cNvPr>
          <p:cNvSpPr>
            <a:spLocks noGrp="1"/>
          </p:cNvSpPr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D2623"/>
                </a:solidFill>
              </a:rPr>
              <a:t>5~8컷 이야기 구조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D3E51F-5224-4C58-BFA6-843B47C94670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09960" cy="22860"/>
          </a:xfrm>
          <a:prstGeom prst="rect">
            <a:avLst/>
          </a:prstGeom>
          <a:solidFill>
            <a:srgbClr val="1F8F8C"/>
          </a:solidFill>
          <a:ln>
            <a:solidFill>
              <a:srgbClr val="1F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A1B98-7AC0-402F-AC2E-643AFA00A0FF}"/>
              </a:ext>
            </a:extLst>
          </p:cNvPr>
          <p:cNvSpPr>
            <a:spLocks noGrp="1"/>
          </p:cNvSpPr>
          <p:nvPr/>
        </p:nvSpPr>
        <p:spPr>
          <a:xfrm>
            <a:off x="502920" y="6437376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68716C"/>
                </a:solidFill>
              </a:rPr>
              <a:t>군포 Re_Born AI 영상 창작 워크숍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322D7E-EEEC-4905-B7FB-7EACD6ADC88D}"/>
              </a:ext>
            </a:extLst>
          </p:cNvPr>
          <p:cNvSpPr>
            <a:spLocks noGrp="1"/>
          </p:cNvSpPr>
          <p:nvPr/>
        </p:nvSpPr>
        <p:spPr>
          <a:xfrm>
            <a:off x="685800" y="173736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700" b="1">
                <a:solidFill>
                  <a:srgbClr val="1D2623"/>
                </a:solidFill>
              </a:rPr>
              <a:t>1</a:t>
            </a:r>
          </a:p>
          <a:p>
            <a:pPr>
              <a:spcAft>
                <a:spcPts val="400"/>
              </a:spcAft>
              <a:buNone/>
              <a:defRPr sz="1400" b="0">
                <a:solidFill>
                  <a:srgbClr val="444E49"/>
                </a:solidFill>
              </a:defRPr>
            </a:pPr>
            <a:r>
              <a:t>지금의 나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390ADE-2753-4D1F-8D29-7E6068AD1CB7}"/>
              </a:ext>
            </a:extLst>
          </p:cNvPr>
          <p:cNvSpPr>
            <a:spLocks noGrp="1"/>
          </p:cNvSpPr>
          <p:nvPr/>
        </p:nvSpPr>
        <p:spPr>
          <a:xfrm>
            <a:off x="3520440" y="1737360"/>
            <a:ext cx="2331720" cy="960120"/>
          </a:xfrm>
          <a:prstGeom prst="roundRect">
            <a:avLst/>
          </a:prstGeom>
          <a:solidFill>
            <a:srgbClr val="DCEDEA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700" b="1">
                <a:solidFill>
                  <a:srgbClr val="1D2623"/>
                </a:solidFill>
              </a:rPr>
              <a:t>2</a:t>
            </a:r>
          </a:p>
          <a:p>
            <a:pPr>
              <a:spcAft>
                <a:spcPts val="400"/>
              </a:spcAft>
              <a:buNone/>
              <a:defRPr sz="1400" b="0">
                <a:solidFill>
                  <a:srgbClr val="444E49"/>
                </a:solidFill>
              </a:defRPr>
            </a:pPr>
            <a:r>
              <a:t>지나온 경험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6C42B6-99FE-46F5-ABA3-33C995CC6B54}"/>
              </a:ext>
            </a:extLst>
          </p:cNvPr>
          <p:cNvSpPr>
            <a:spLocks noGrp="1"/>
          </p:cNvSpPr>
          <p:nvPr/>
        </p:nvSpPr>
        <p:spPr>
          <a:xfrm>
            <a:off x="6355080" y="1737360"/>
            <a:ext cx="2331720" cy="960120"/>
          </a:xfrm>
          <a:prstGeom prst="roundRect">
            <a:avLst/>
          </a:prstGeom>
          <a:solidFill>
            <a:srgbClr val="F7D8C9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700" b="1">
                <a:solidFill>
                  <a:srgbClr val="1D2623"/>
                </a:solidFill>
              </a:rPr>
              <a:t>3</a:t>
            </a:r>
          </a:p>
          <a:p>
            <a:pPr>
              <a:spcAft>
                <a:spcPts val="400"/>
              </a:spcAft>
              <a:buNone/>
              <a:defRPr sz="1400" b="0">
                <a:solidFill>
                  <a:srgbClr val="444E49"/>
                </a:solidFill>
              </a:defRPr>
            </a:pPr>
            <a:r>
              <a:t>변화가 필요했던 순간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1259D0-C75C-48A9-8D2D-8556B61805C9}"/>
              </a:ext>
            </a:extLst>
          </p:cNvPr>
          <p:cNvSpPr>
            <a:spLocks noGrp="1"/>
          </p:cNvSpPr>
          <p:nvPr/>
        </p:nvSpPr>
        <p:spPr>
          <a:xfrm>
            <a:off x="9189720" y="1737360"/>
            <a:ext cx="2331720" cy="960120"/>
          </a:xfrm>
          <a:prstGeom prst="roundRect">
            <a:avLst/>
          </a:prstGeom>
          <a:solidFill>
            <a:srgbClr val="8AC5D9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700" b="1">
                <a:solidFill>
                  <a:srgbClr val="1D2623"/>
                </a:solidFill>
              </a:rPr>
              <a:t>4</a:t>
            </a:r>
          </a:p>
          <a:p>
            <a:pPr>
              <a:spcAft>
                <a:spcPts val="400"/>
              </a:spcAft>
              <a:buNone/>
              <a:defRPr sz="1400" b="0">
                <a:solidFill>
                  <a:srgbClr val="444E49"/>
                </a:solidFill>
              </a:defRPr>
            </a:pPr>
            <a:r>
              <a:t>새롭게 배우는 나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03ACFBF-D24A-44DA-8D0F-6A0C0469DA29}"/>
              </a:ext>
            </a:extLst>
          </p:cNvPr>
          <p:cNvSpPr>
            <a:spLocks noGrp="1"/>
          </p:cNvSpPr>
          <p:nvPr/>
        </p:nvSpPr>
        <p:spPr>
          <a:xfrm>
            <a:off x="685800" y="3063239"/>
            <a:ext cx="2331720" cy="960120"/>
          </a:xfrm>
          <a:prstGeom prst="roundRect">
            <a:avLst/>
          </a:prstGeom>
          <a:solidFill>
            <a:srgbClr val="DCEB7A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700" b="1">
                <a:solidFill>
                  <a:srgbClr val="1D2623"/>
                </a:solidFill>
              </a:rPr>
              <a:t>5</a:t>
            </a:r>
          </a:p>
          <a:p>
            <a:pPr>
              <a:spcAft>
                <a:spcPts val="400"/>
              </a:spcAft>
              <a:buNone/>
              <a:defRPr sz="1400" b="0">
                <a:solidFill>
                  <a:srgbClr val="444E49"/>
                </a:solidFill>
              </a:defRPr>
            </a:pPr>
            <a:r>
              <a:t>앞으로의 나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211FB8-996B-42BE-8FD4-825A88DC073F}"/>
              </a:ext>
            </a:extLst>
          </p:cNvPr>
          <p:cNvSpPr>
            <a:spLocks noGrp="1"/>
          </p:cNvSpPr>
          <p:nvPr/>
        </p:nvSpPr>
        <p:spPr>
          <a:xfrm>
            <a:off x="3520440" y="3063239"/>
            <a:ext cx="2331720" cy="960120"/>
          </a:xfrm>
          <a:prstGeom prst="roundRect">
            <a:avLst/>
          </a:prstGeom>
          <a:solidFill>
            <a:srgbClr val="F18678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700" b="1">
                <a:solidFill>
                  <a:srgbClr val="1D2623"/>
                </a:solidFill>
              </a:rPr>
              <a:t>6</a:t>
            </a:r>
          </a:p>
          <a:p>
            <a:pPr>
              <a:spcAft>
                <a:spcPts val="400"/>
              </a:spcAft>
              <a:buNone/>
              <a:defRPr sz="1400" b="0">
                <a:solidFill>
                  <a:srgbClr val="444E49"/>
                </a:solidFill>
              </a:defRPr>
            </a:pPr>
            <a:r>
              <a:t>실제 하고 싶은 활동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4A72302-9ECD-4471-A382-A5383279E74F}"/>
              </a:ext>
            </a:extLst>
          </p:cNvPr>
          <p:cNvSpPr>
            <a:spLocks noGrp="1"/>
          </p:cNvSpPr>
          <p:nvPr/>
        </p:nvSpPr>
        <p:spPr>
          <a:xfrm>
            <a:off x="6355080" y="3063239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700" b="1">
                <a:solidFill>
                  <a:srgbClr val="1D2623"/>
                </a:solidFill>
              </a:rPr>
              <a:t>7</a:t>
            </a:r>
          </a:p>
          <a:p>
            <a:pPr>
              <a:spcAft>
                <a:spcPts val="400"/>
              </a:spcAft>
              <a:buNone/>
              <a:defRPr sz="1400" b="0">
                <a:solidFill>
                  <a:srgbClr val="444E49"/>
                </a:solidFill>
              </a:defRPr>
            </a:pPr>
            <a:r>
              <a:t>사람들과 연결되는 장면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9B43F4E-2D49-426F-827B-60BC574F42CE}"/>
              </a:ext>
            </a:extLst>
          </p:cNvPr>
          <p:cNvSpPr>
            <a:spLocks noGrp="1"/>
          </p:cNvSpPr>
          <p:nvPr/>
        </p:nvSpPr>
        <p:spPr>
          <a:xfrm>
            <a:off x="9189720" y="3063239"/>
            <a:ext cx="2331720" cy="960120"/>
          </a:xfrm>
          <a:prstGeom prst="roundRect">
            <a:avLst/>
          </a:prstGeom>
          <a:solidFill>
            <a:srgbClr val="DCEDEA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700" b="1">
                <a:solidFill>
                  <a:srgbClr val="1D2623"/>
                </a:solidFill>
              </a:rPr>
              <a:t>8</a:t>
            </a:r>
          </a:p>
          <a:p>
            <a:pPr>
              <a:spcAft>
                <a:spcPts val="400"/>
              </a:spcAft>
              <a:buNone/>
              <a:defRPr sz="1400" b="0">
                <a:solidFill>
                  <a:srgbClr val="444E49"/>
                </a:solidFill>
              </a:defRPr>
            </a:pPr>
            <a:r>
              <a:t>나를 상징하는 마지막 장면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041D34-2502-4E15-87A2-CB59A35E1AFE}"/>
              </a:ext>
            </a:extLst>
          </p:cNvPr>
          <p:cNvSpPr>
            <a:spLocks noGrp="1"/>
          </p:cNvSpPr>
          <p:nvPr/>
        </p:nvSpPr>
        <p:spPr>
          <a:xfrm>
            <a:off x="914400" y="498348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EC6452"/>
                </a:solidFill>
              </a:rPr>
              <a:t>오늘은 우선 장면 키워드만 정해도 충분합니다.</a:t>
            </a:r>
          </a:p>
          <a:p>
            <a:pPr algn="ctr">
              <a:buNone/>
            </a:pPr>
            <a:r>
              <a:rPr b="1">
                <a:solidFill>
                  <a:srgbClr val="EC6452"/>
                </a:solidFill>
              </a:rPr>
              <a:t>기본 5컷 + 확장 6~8컷</a:t>
            </a:r>
          </a:p>
        </p:txBody>
      </p:sp>
    </p:spTree>
    <p:extLst>
      <p:ext uri="{BB962C8B-B14F-4D97-AF65-F5344CB8AC3E}">
        <p14:creationId xmlns:p14="http://schemas.microsoft.com/office/powerpoint/2010/main" val="15851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79DFB-7902-4C8A-BA8E-73D0AFEF6850}"/>
              </a:ext>
            </a:extLst>
          </p:cNvPr>
          <p:cNvSpPr>
            <a:spLocks noGrp="1"/>
          </p:cNvSpPr>
          <p:nvPr/>
        </p:nvSpPr>
        <p:spPr>
          <a:xfrm>
            <a:off x="502920" y="23774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C6452"/>
                </a:solidFill>
              </a:rPr>
              <a:t>AI활용 2차시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0C9BF-3FE7-4B36-BFBA-3CB0AB6CB8CF}"/>
              </a:ext>
            </a:extLst>
          </p:cNvPr>
          <p:cNvSpPr>
            <a:spLocks noGrp="1"/>
          </p:cNvSpPr>
          <p:nvPr/>
        </p:nvSpPr>
        <p:spPr>
          <a:xfrm>
            <a:off x="9784080" y="228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 b="0">
                <a:solidFill>
                  <a:srgbClr val="68716C"/>
                </a:solidFill>
              </a:rPr>
              <a:t>Re_Born AI Studio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90515-A3A7-489A-8396-17AA6BF6B9CC}"/>
              </a:ext>
            </a:extLst>
          </p:cNvPr>
          <p:cNvSpPr>
            <a:spLocks noGrp="1"/>
          </p:cNvSpPr>
          <p:nvPr/>
        </p:nvSpPr>
        <p:spPr>
          <a:xfrm>
            <a:off x="11448288" y="2286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 b="1">
                <a:solidFill>
                  <a:srgbClr val="68716C"/>
                </a:solidFill>
              </a:rPr>
              <a:t>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75D5E-68AA-406D-90F4-A44CDA052BD0}"/>
              </a:ext>
            </a:extLst>
          </p:cNvPr>
          <p:cNvSpPr>
            <a:spLocks noGrp="1"/>
          </p:cNvSpPr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D2623"/>
                </a:solidFill>
              </a:rPr>
              <a:t>장면 아이디어는 장소·행동·감정 세 가지로 잡습니다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B79CA-FBE1-4F70-880A-35CA9BD71637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09960" cy="22860"/>
          </a:xfrm>
          <a:prstGeom prst="rect">
            <a:avLst/>
          </a:prstGeom>
          <a:solidFill>
            <a:srgbClr val="1F8F8C"/>
          </a:solidFill>
          <a:ln>
            <a:solidFill>
              <a:srgbClr val="1F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D63C8-E719-480C-8C70-B3A338B69AED}"/>
              </a:ext>
            </a:extLst>
          </p:cNvPr>
          <p:cNvSpPr>
            <a:spLocks noGrp="1"/>
          </p:cNvSpPr>
          <p:nvPr/>
        </p:nvSpPr>
        <p:spPr>
          <a:xfrm>
            <a:off x="502920" y="6437376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68716C"/>
                </a:solidFill>
              </a:rPr>
              <a:t>군포 Re_Born AI 영상 창작 워크숍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F411B4-2E00-4547-9F35-8E686F33C74D}"/>
              </a:ext>
            </a:extLst>
          </p:cNvPr>
          <p:cNvSpPr>
            <a:spLocks noGrp="1"/>
          </p:cNvSpPr>
          <p:nvPr/>
        </p:nvSpPr>
        <p:spPr>
          <a:xfrm>
            <a:off x="822960" y="1828800"/>
            <a:ext cx="4754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800" b="1">
                <a:solidFill>
                  <a:srgbClr val="1D2623"/>
                </a:solidFill>
              </a:rPr>
              <a:t>1컷 — 지금의 나</a:t>
            </a:r>
          </a:p>
          <a:p>
            <a:pPr algn="ctr">
              <a:buNone/>
            </a:pPr>
            <a:endParaRPr sz="1800" b="1">
              <a:solidFill>
                <a:srgbClr val="1D2623"/>
              </a:solidFill>
            </a:endParaRP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장소: 햇살이 들어오는 책상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행동: 차를 마시며 메모하기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감정: 편안함과 사색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10D8C1-8E67-47C7-BBA7-A0AABEAE01AF}"/>
              </a:ext>
            </a:extLst>
          </p:cNvPr>
          <p:cNvSpPr>
            <a:spLocks noGrp="1"/>
          </p:cNvSpPr>
          <p:nvPr/>
        </p:nvSpPr>
        <p:spPr>
          <a:xfrm>
            <a:off x="6217920" y="1828800"/>
            <a:ext cx="4754880" cy="2286000"/>
          </a:xfrm>
          <a:prstGeom prst="roundRect">
            <a:avLst/>
          </a:prstGeom>
          <a:solidFill>
            <a:srgbClr val="DCEDEA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800" b="1">
                <a:solidFill>
                  <a:srgbClr val="1F8F8C"/>
                </a:solidFill>
              </a:rPr>
              <a:t>4컷 — 새롭게 배우는 나</a:t>
            </a:r>
          </a:p>
          <a:p>
            <a:pPr algn="ctr">
              <a:buNone/>
            </a:pPr>
            <a:endParaRPr sz="1800" b="1">
              <a:solidFill>
                <a:srgbClr val="1F8F8C"/>
              </a:solidFill>
            </a:endParaRP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장소: 평생학습관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행동: 노트북으로 AI 실습하기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감정: 집중과 기대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83A715-3521-43E0-BF8E-86AD5A285759}"/>
              </a:ext>
            </a:extLst>
          </p:cNvPr>
          <p:cNvSpPr>
            <a:spLocks noGrp="1"/>
          </p:cNvSpPr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D2623"/>
                </a:solidFill>
              </a:rPr>
              <a:t>웹앱에서 ‘장면 아이디어 만들기’와 ‘5컷 프롬프트 복사’를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027219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991DD5-321C-4939-9415-E4F1B41886F0}"/>
              </a:ext>
            </a:extLst>
          </p:cNvPr>
          <p:cNvSpPr>
            <a:spLocks noGrp="1"/>
          </p:cNvSpPr>
          <p:nvPr/>
        </p:nvSpPr>
        <p:spPr>
          <a:xfrm>
            <a:off x="502920" y="23774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C6452"/>
                </a:solidFill>
              </a:rPr>
              <a:t>AI활용 2차시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56AC75-CEA9-45A9-8706-739845CD99BC}"/>
              </a:ext>
            </a:extLst>
          </p:cNvPr>
          <p:cNvSpPr>
            <a:spLocks noGrp="1"/>
          </p:cNvSpPr>
          <p:nvPr/>
        </p:nvSpPr>
        <p:spPr>
          <a:xfrm>
            <a:off x="9784080" y="228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 b="0">
                <a:solidFill>
                  <a:srgbClr val="68716C"/>
                </a:solidFill>
              </a:rPr>
              <a:t>Re_Born AI Studio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A9787-DAA3-4B45-8C8F-1003509CC4E6}"/>
              </a:ext>
            </a:extLst>
          </p:cNvPr>
          <p:cNvSpPr>
            <a:spLocks noGrp="1"/>
          </p:cNvSpPr>
          <p:nvPr/>
        </p:nvSpPr>
        <p:spPr>
          <a:xfrm>
            <a:off x="11448288" y="2286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 b="1">
                <a:solidFill>
                  <a:srgbClr val="68716C"/>
                </a:solidFill>
              </a:rPr>
              <a:t>36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C5FD5-BB26-46F4-ABEF-F4A2F50AEA67}"/>
              </a:ext>
            </a:extLst>
          </p:cNvPr>
          <p:cNvSpPr>
            <a:spLocks noGrp="1"/>
          </p:cNvSpPr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D2623"/>
                </a:solidFill>
              </a:rPr>
              <a:t>확장 프롬프트의 원리: 고정 요소 + 새로운 장면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E41E4B-E7A1-461B-BB95-F96AD428D8A7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09960" cy="22860"/>
          </a:xfrm>
          <a:prstGeom prst="rect">
            <a:avLst/>
          </a:prstGeom>
          <a:solidFill>
            <a:srgbClr val="1F8F8C"/>
          </a:solidFill>
          <a:ln>
            <a:solidFill>
              <a:srgbClr val="1F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A1ACB-EEDC-4BF0-A429-A0452FEF87A6}"/>
              </a:ext>
            </a:extLst>
          </p:cNvPr>
          <p:cNvSpPr>
            <a:spLocks noGrp="1"/>
          </p:cNvSpPr>
          <p:nvPr/>
        </p:nvSpPr>
        <p:spPr>
          <a:xfrm>
            <a:off x="502920" y="6437376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68716C"/>
                </a:solidFill>
              </a:rPr>
              <a:t>군포 Re_Born AI 영상 창작 워크숍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5D35FAA-3D38-4B16-9745-6AC65027BC91}"/>
              </a:ext>
            </a:extLst>
          </p:cNvPr>
          <p:cNvSpPr>
            <a:spLocks noGrp="1"/>
          </p:cNvSpPr>
          <p:nvPr/>
        </p:nvSpPr>
        <p:spPr>
          <a:xfrm>
            <a:off x="822960" y="1737360"/>
            <a:ext cx="10424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800" b="1">
                <a:solidFill>
                  <a:srgbClr val="1F8F8C"/>
                </a:solidFill>
              </a:rPr>
              <a:t>고정 요소</a:t>
            </a:r>
          </a:p>
          <a:p>
            <a:pPr algn="ctr">
              <a:buNone/>
            </a:pPr>
            <a:endParaRPr sz="1800" b="1">
              <a:solidFill>
                <a:srgbClr val="1F8F8C"/>
              </a:solidFill>
            </a:endParaRP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첫 번째 퍼스널 비주얼카드와 동일한 인물의 고유한 인상, 기본 의상, 색감, 빛, 스타일을 유지해 주세요.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819305-F6C5-4FAA-9D9A-82A4CE46115E}"/>
              </a:ext>
            </a:extLst>
          </p:cNvPr>
          <p:cNvSpPr>
            <a:spLocks noGrp="1"/>
          </p:cNvSpPr>
          <p:nvPr/>
        </p:nvSpPr>
        <p:spPr>
          <a:xfrm>
            <a:off x="822960" y="3657600"/>
            <a:ext cx="10424160" cy="1554480"/>
          </a:xfrm>
          <a:prstGeom prst="roundRect">
            <a:avLst/>
          </a:prstGeom>
          <a:solidFill>
            <a:srgbClr val="DCEDEA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800" b="1">
                <a:solidFill>
                  <a:srgbClr val="1F8F8C"/>
                </a:solidFill>
              </a:rPr>
              <a:t>새로운 장면</a:t>
            </a:r>
          </a:p>
          <a:p>
            <a:pPr algn="ctr">
              <a:buNone/>
            </a:pPr>
            <a:endParaRPr sz="1800" b="1">
              <a:solidFill>
                <a:srgbClr val="1F8F8C"/>
              </a:solidFill>
            </a:endParaRP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이번 장면에서는 같은 인물이 평생학습관의 밝은 교실에서 노트북으로 AI를 배우며 메모하고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1574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035673-EBB4-49DD-BFF6-1618CF0E304A}"/>
              </a:ext>
            </a:extLst>
          </p:cNvPr>
          <p:cNvSpPr>
            <a:spLocks noGrp="1"/>
          </p:cNvSpPr>
          <p:nvPr/>
        </p:nvSpPr>
        <p:spPr>
          <a:xfrm>
            <a:off x="502920" y="23774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C6452"/>
                </a:solidFill>
              </a:rPr>
              <a:t>AI활용 2차시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F52CA-D5C9-4D20-B6D2-C73B4A4B3A3F}"/>
              </a:ext>
            </a:extLst>
          </p:cNvPr>
          <p:cNvSpPr>
            <a:spLocks noGrp="1"/>
          </p:cNvSpPr>
          <p:nvPr/>
        </p:nvSpPr>
        <p:spPr>
          <a:xfrm>
            <a:off x="9784080" y="228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 b="0">
                <a:solidFill>
                  <a:srgbClr val="68716C"/>
                </a:solidFill>
              </a:rPr>
              <a:t>Re_Born AI Studio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0A3592-7954-4936-8AE2-7C2E52B7393D}"/>
              </a:ext>
            </a:extLst>
          </p:cNvPr>
          <p:cNvSpPr>
            <a:spLocks noGrp="1"/>
          </p:cNvSpPr>
          <p:nvPr/>
        </p:nvSpPr>
        <p:spPr>
          <a:xfrm>
            <a:off x="11448288" y="22860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 b="1">
                <a:solidFill>
                  <a:srgbClr val="68716C"/>
                </a:solidFill>
              </a:rPr>
              <a:t>37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18433-9768-4DBE-80CA-F3BC4F575DF0}"/>
              </a:ext>
            </a:extLst>
          </p:cNvPr>
          <p:cNvSpPr>
            <a:spLocks noGrp="1"/>
          </p:cNvSpPr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D2623"/>
                </a:solidFill>
              </a:rPr>
              <a:t>저장과 공유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26790-F0F0-4D18-AB93-D339556B93DF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09960" cy="22860"/>
          </a:xfrm>
          <a:prstGeom prst="rect">
            <a:avLst/>
          </a:prstGeom>
          <a:solidFill>
            <a:srgbClr val="1F8F8C"/>
          </a:solidFill>
          <a:ln>
            <a:solidFill>
              <a:srgbClr val="1F8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21DB3-1912-4225-8122-5E37C8FB18F3}"/>
              </a:ext>
            </a:extLst>
          </p:cNvPr>
          <p:cNvSpPr>
            <a:spLocks noGrp="1"/>
          </p:cNvSpPr>
          <p:nvPr/>
        </p:nvSpPr>
        <p:spPr>
          <a:xfrm>
            <a:off x="502920" y="6437376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68716C"/>
                </a:solidFill>
              </a:rPr>
              <a:t>군포 Re_Born AI 영상 창작 워크숍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DC8CE6-BC98-412B-B985-E035B5EE975F}"/>
              </a:ext>
            </a:extLst>
          </p:cNvPr>
          <p:cNvSpPr>
            <a:spLocks noGrp="1"/>
          </p:cNvSpPr>
          <p:nvPr/>
        </p:nvSpPr>
        <p:spPr>
          <a:xfrm>
            <a:off x="822960" y="1737360"/>
            <a:ext cx="5029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800" b="1">
                <a:solidFill>
                  <a:srgbClr val="1D2623"/>
                </a:solidFill>
              </a:rPr>
              <a:t>저장할 것</a:t>
            </a:r>
          </a:p>
          <a:p>
            <a:pPr algn="ctr">
              <a:buNone/>
            </a:pPr>
            <a:endParaRPr sz="1800" b="1">
              <a:solidFill>
                <a:srgbClr val="1D2623"/>
              </a:solidFill>
            </a:endParaRP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최종 또는 가장 마음에 드는 카드 이미지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처음 사용한 프롬프트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수정 프롬프트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5~8컷 장면 아이디어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0F0584-25ED-40AB-8F80-EDABE862D7BA}"/>
              </a:ext>
            </a:extLst>
          </p:cNvPr>
          <p:cNvSpPr>
            <a:spLocks noGrp="1"/>
          </p:cNvSpPr>
          <p:nvPr/>
        </p:nvSpPr>
        <p:spPr>
          <a:xfrm>
            <a:off x="6309360" y="1737360"/>
            <a:ext cx="4754880" cy="2743200"/>
          </a:xfrm>
          <a:prstGeom prst="roundRect">
            <a:avLst/>
          </a:prstGeom>
          <a:solidFill>
            <a:srgbClr val="DCEDEA"/>
          </a:solidFill>
          <a:ln>
            <a:solidFill>
              <a:srgbClr val="DA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sz="1800" b="1">
                <a:solidFill>
                  <a:srgbClr val="1F8F8C"/>
                </a:solidFill>
              </a:rPr>
              <a:t>Padlet 공유</a:t>
            </a:r>
          </a:p>
          <a:p>
            <a:pPr algn="ctr">
              <a:buNone/>
            </a:pPr>
            <a:endParaRPr sz="1800" b="1">
              <a:solidFill>
                <a:srgbClr val="1F8F8C"/>
              </a:solidFill>
            </a:endParaRP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이름 또는 닉네임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나의 한 문장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퍼스널 비주얼카드 이미지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선택한 비주얼 키워드 3개</a:t>
            </a:r>
          </a:p>
          <a:p>
            <a:pPr>
              <a:spcAft>
                <a:spcPts val="400"/>
              </a:spcAft>
              <a:buNone/>
              <a:defRPr sz="1600" b="0">
                <a:solidFill>
                  <a:srgbClr val="444E49"/>
                </a:solidFill>
              </a:defRPr>
            </a:pPr>
            <a:r>
              <a:t>다음에 바꾸고 싶은 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C92D12-C86B-47A4-B26F-9A2874EF045E}"/>
              </a:ext>
            </a:extLst>
          </p:cNvPr>
          <p:cNvSpPr>
            <a:spLocks noGrp="1"/>
          </p:cNvSpPr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EC6452"/>
                </a:solidFill>
              </a:rPr>
              <a:t>웹앱 주소는 단톡방으로, QR은 Padlet에 게시합니다.</a:t>
            </a:r>
          </a:p>
        </p:txBody>
      </p:sp>
    </p:spTree>
    <p:extLst>
      <p:ext uri="{BB962C8B-B14F-4D97-AF65-F5344CB8AC3E}">
        <p14:creationId xmlns:p14="http://schemas.microsoft.com/office/powerpoint/2010/main" val="214863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09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퍼스널 비주얼에서 8컷 뽑기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35분 실습: 처음에는 한 문장으로만 적습니다.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39"/>
            <a:ext cx="10378440" cy="3012245"/>
          </a:xfrm>
          <a:prstGeom prst="rect">
            <a:avLst/>
          </a:prstGeom>
          <a:solidFill>
            <a:srgbClr val="F6EFE3"/>
          </a:solidFill>
          <a:ln w="12700">
            <a:solidFill>
              <a:srgbClr val="EADDCB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2404872"/>
            <a:ext cx="979322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1. 내 영상은 어떤 시간대에서 시작하나요?</a:t>
            </a:r>
            <a:endParaRPr lang="en-US" sz="2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2. 내 주변에는 무엇이 있나요?</a:t>
            </a:r>
            <a:endParaRPr lang="en-US" sz="2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3. 나는 어떤 행동을 하나요?</a:t>
            </a:r>
            <a:endParaRPr lang="en-US" sz="2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 4. 마지막에 어떤 모습으로 남고 싶나요?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88720" y="5349240"/>
            <a:ext cx="9875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분은 8컷 전체를, 어려운 분은 우선 4컷만 작성해도 됩니다.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이미지로 바꾸기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장면 문장을 이미지 프롬프트로 바꿉니다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이제 8컷을 영상 재료가 될 이미지로 만듭니다.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장면 문장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“차를 마시며 메모하는 모습”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프롬프트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799" y="2697479"/>
            <a:ext cx="5143501" cy="189210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“새벽빛이 들어오는 작업실, 40~50대 한국인 여성, 따뜻한 차를 마시며 노트에 메모하는 모습, 차분하고 희망적인 분위기, 자연광, 시네마틱 사진 스타일”</a:t>
            </a:r>
            <a:endParaRPr lang="en-US" b="1" dirty="0"/>
          </a:p>
        </p:txBody>
      </p:sp>
      <p:sp>
        <p:nvSpPr>
          <p:cNvPr id="10" name="Text 8"/>
          <p:cNvSpPr/>
          <p:nvPr/>
        </p:nvSpPr>
        <p:spPr>
          <a:xfrm>
            <a:off x="1143000" y="5074920"/>
            <a:ext cx="98298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 보이는지 + 어떤 분위기인지까지 써야 결과가 안정됩니다.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공식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프롬프트 6요소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빠뜨리지 않게 순서대로 넣어봅니다.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2834640" cy="658368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인물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80560" y="2331720"/>
            <a:ext cx="2834640" cy="658368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2331720"/>
            <a:ext cx="2834640" cy="658368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2834640" cy="658368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593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80560" y="3383280"/>
            <a:ext cx="2834640" cy="658368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593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빛/색감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46720" y="3383280"/>
            <a:ext cx="2834640" cy="658368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593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166360"/>
            <a:ext cx="10332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“40~50대 한국인 여성 + 창가 작업실 + 노트에 쓰는 장면 + 차분한 자신감 + 따뜻한 새벽빛 + 시네마틱”</a:t>
            </a:r>
            <a:endParaRPr lang="en-US" sz="18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371184D-9342-5542-89B6-CB0F410DD022}"/>
              </a:ext>
            </a:extLst>
          </p:cNvPr>
          <p:cNvSpPr/>
          <p:nvPr/>
        </p:nvSpPr>
        <p:spPr>
          <a:xfrm>
            <a:off x="914400" y="5586398"/>
            <a:ext cx="10332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sym typeface="Wingdings" panose="05000000000000000000" pitchFamily="2" charset="2"/>
              </a:rPr>
              <a:t> (</a:t>
            </a:r>
            <a:r>
              <a:rPr lang="ko-KR" altLang="en-US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sym typeface="Wingdings" panose="05000000000000000000" pitchFamily="2" charset="2"/>
              </a:rPr>
              <a:t>인물</a:t>
            </a:r>
            <a:r>
              <a:rPr lang="en-US" altLang="ko-KR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sym typeface="Wingdings" panose="05000000000000000000" pitchFamily="2" charset="2"/>
              </a:rPr>
              <a:t>) </a:t>
            </a: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+  (</a:t>
            </a:r>
            <a:r>
              <a:rPr lang="ko-KR" alt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</a:t>
            </a:r>
            <a:r>
              <a:rPr lang="en-US" altLang="ko-KR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+  (</a:t>
            </a:r>
            <a:r>
              <a:rPr lang="ko-KR" alt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</a:t>
            </a:r>
            <a:r>
              <a:rPr lang="en-US" altLang="ko-KR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 </a:t>
            </a: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+  (</a:t>
            </a:r>
            <a:r>
              <a:rPr lang="ko-KR" alt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</a:t>
            </a:r>
            <a:r>
              <a:rPr lang="en-US" altLang="ko-KR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+ (</a:t>
            </a:r>
            <a:r>
              <a:rPr lang="ko-KR" alt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빛</a:t>
            </a:r>
            <a:r>
              <a:rPr lang="en-US" altLang="ko-KR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ko-KR" alt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색감</a:t>
            </a:r>
            <a:r>
              <a:rPr lang="en-US" altLang="ko-KR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+  (</a:t>
            </a:r>
            <a:r>
              <a:rPr lang="ko-KR" alt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스타일</a:t>
            </a:r>
            <a:r>
              <a:rPr lang="en-US" altLang="ko-KR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이미지는 “이어지는 장면”입니다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8장이 따로 놀지 않도록 기준을 고정합니다.</a:t>
            </a:r>
            <a:endParaRPr lang="en-US" sz="1600" dirty="0"/>
          </a:p>
        </p:txBody>
      </p:sp>
      <p:pic>
        <p:nvPicPr>
          <p:cNvPr id="6" name="Image 0" descr="/mnt/data/a_wide_soft_illustrated_infographic_style_scene_w_16x9.jpg"/>
          <p:cNvPicPr>
            <a:picLocks noChangeAspect="1"/>
          </p:cNvPicPr>
          <p:nvPr/>
        </p:nvPicPr>
        <p:blipFill>
          <a:blip r:embed="rId3"/>
          <a:srcRect t="79" b="79"/>
          <a:stretch/>
        </p:blipFill>
        <p:spPr>
          <a:xfrm>
            <a:off x="6629400" y="2057400"/>
            <a:ext cx="4526280" cy="2542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2402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52728" y="22539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인물 나이·분위기 유지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77063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52728" y="27843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복장과 색감 유지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33009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52728" y="33147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공간의 톤 유지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8680" y="38313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52728" y="38450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 거리만 조금씩 변화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" y="43616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52728" y="43754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장면마다 행동만 바꾸기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장씩 예쁘게 만드는 것보다, 한 편의 영상처럼 보이게 만드는 것이 중요합니다.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E9A2C-6533-1EA6-3F9F-50061B91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14C90C-5F35-156B-877B-C6077DF15932}"/>
              </a:ext>
            </a:extLst>
          </p:cNvPr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12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71A6C8-B801-896A-351C-3EB1252CF048}"/>
              </a:ext>
            </a:extLst>
          </p:cNvPr>
          <p:cNvSpPr/>
          <p:nvPr/>
        </p:nvSpPr>
        <p:spPr>
          <a:xfrm>
            <a:off x="658368" y="15361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8장이 따로 놀지 않도록 기준을 고정합니다.</a:t>
            </a:r>
            <a:endParaRPr lang="en-US" sz="1600" dirty="0"/>
          </a:p>
        </p:txBody>
      </p:sp>
      <p:pic>
        <p:nvPicPr>
          <p:cNvPr id="6" name="Image 0" descr="/mnt/data/a_wide_soft_illustrated_infographic_style_scene_w_16x9.jpg">
            <a:extLst>
              <a:ext uri="{FF2B5EF4-FFF2-40B4-BE49-F238E27FC236}">
                <a16:creationId xmlns:a16="http://schemas.microsoft.com/office/drawing/2014/main" id="{B10F452F-1613-6AC7-FF23-9866B78F6A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" b="79"/>
          <a:stretch/>
        </p:blipFill>
        <p:spPr>
          <a:xfrm>
            <a:off x="434339" y="146304"/>
            <a:ext cx="4827489" cy="27111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9F0E33-0E9C-CE4B-895F-345962FF505E}"/>
              </a:ext>
            </a:extLst>
          </p:cNvPr>
          <p:cNvSpPr txBox="1"/>
          <p:nvPr/>
        </p:nvSpPr>
        <p:spPr>
          <a:xfrm>
            <a:off x="355210" y="3006188"/>
            <a:ext cx="4920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30</a:t>
            </a:r>
            <a:r>
              <a:rPr lang="ko-KR" altLang="en-US" sz="1200"/>
              <a:t>대 초반의 한국인 남성</a:t>
            </a:r>
            <a:r>
              <a:rPr lang="en-US" altLang="ko-KR" sz="1200"/>
              <a:t>, </a:t>
            </a:r>
            <a:r>
              <a:rPr lang="ko-KR" altLang="en-US" sz="1200"/>
              <a:t>부드러운 웨이브가 있는 검은 머리</a:t>
            </a:r>
            <a:r>
              <a:rPr lang="en-US" altLang="ko-KR" sz="1200"/>
              <a:t>, </a:t>
            </a:r>
            <a:r>
              <a:rPr lang="ko-KR" altLang="en-US" sz="1200"/>
              <a:t>따뜻하고 차분한 표정</a:t>
            </a:r>
            <a:r>
              <a:rPr lang="en-US" altLang="ko-KR" sz="1200"/>
              <a:t>, </a:t>
            </a:r>
            <a:r>
              <a:rPr lang="ko-KR" altLang="en-US" sz="1200"/>
              <a:t>베이지 니트 또는 채도가 낮은 올리브색 캐주얼 재킷을 입은 자연스럽고 지적인 인상</a:t>
            </a:r>
            <a:r>
              <a:rPr lang="en-US" altLang="ko-KR" sz="1200"/>
              <a:t>. </a:t>
            </a:r>
            <a:r>
              <a:rPr lang="ko-KR" altLang="en-US" sz="1200"/>
              <a:t>따뜻한 크림색</a:t>
            </a:r>
            <a:r>
              <a:rPr lang="en-US" altLang="ko-KR" sz="1200"/>
              <a:t>·</a:t>
            </a:r>
            <a:r>
              <a:rPr lang="ko-KR" altLang="en-US" sz="1200"/>
              <a:t>베이지</a:t>
            </a:r>
            <a:r>
              <a:rPr lang="en-US" altLang="ko-KR" sz="1200"/>
              <a:t>·</a:t>
            </a:r>
            <a:r>
              <a:rPr lang="ko-KR" altLang="en-US" sz="1200"/>
              <a:t>세이지 그린</a:t>
            </a:r>
            <a:r>
              <a:rPr lang="en-US" altLang="ko-KR" sz="1200"/>
              <a:t>·</a:t>
            </a:r>
            <a:r>
              <a:rPr lang="ko-KR" altLang="en-US" sz="1200"/>
              <a:t>부드러운 블루 계열의 색감</a:t>
            </a:r>
            <a:r>
              <a:rPr lang="en-US" altLang="ko-KR" sz="1200"/>
              <a:t>, </a:t>
            </a:r>
            <a:r>
              <a:rPr lang="ko-KR" altLang="en-US" sz="1200"/>
              <a:t>골든아워의 자연광</a:t>
            </a:r>
            <a:r>
              <a:rPr lang="en-US" altLang="ko-KR" sz="1200"/>
              <a:t>, </a:t>
            </a:r>
            <a:r>
              <a:rPr lang="ko-KR" altLang="en-US" sz="1200"/>
              <a:t>시네마틱 에디토리얼 사진 스타일</a:t>
            </a:r>
            <a:r>
              <a:rPr lang="en-US" altLang="ko-KR" sz="1200"/>
              <a:t>, </a:t>
            </a:r>
            <a:r>
              <a:rPr lang="ko-KR" altLang="en-US" sz="1200"/>
              <a:t>은은한 수채화 질감</a:t>
            </a:r>
            <a:r>
              <a:rPr lang="en-US" altLang="ko-KR" sz="1200"/>
              <a:t>, </a:t>
            </a:r>
            <a:r>
              <a:rPr lang="ko-KR" altLang="en-US" sz="1200"/>
              <a:t>차분하고 사색적인 분위기</a:t>
            </a:r>
            <a:r>
              <a:rPr lang="en-US" altLang="ko-KR" sz="1200"/>
              <a:t>, </a:t>
            </a:r>
            <a:r>
              <a:rPr lang="ko-KR" altLang="en-US" sz="1200"/>
              <a:t>자연스러운 인체 비율</a:t>
            </a:r>
            <a:r>
              <a:rPr lang="en-US" altLang="ko-KR" sz="1200"/>
              <a:t>, </a:t>
            </a:r>
            <a:r>
              <a:rPr lang="ko-KR" altLang="en-US" sz="1200"/>
              <a:t>동일한 인물의 얼굴과 인상 유지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FD0A1DA5-391F-513A-4851-264FC5524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10" y="4206517"/>
            <a:ext cx="472674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1컷 — 조용히 하루를 시작하는 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30대 초반의 한국인 남성이 햇살이 들어오는 창가의 작업실에서 나무 책상 앞에 앉아 노트에 조용히 아이디어를 적고 있다. 책상 위에는 노트북,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머그컵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작은 화분이 놓여 있다. 창문을 통해 부드러운 아침 햇살이 들어오며 평온하고 집중된 분위기를 만든다. 따뜻한 크림색과 베이지 색감,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시네마틱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에디토리얼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사진 스타일, 은은한 수채화 질감, 차분하고 사색적인 분위기,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미디엄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와이드 구도, 동일한 인물의 얼굴과 인상 유지.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키워드: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아침 / 기록 / 조용한 몰입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C4612EF4-D1CD-A074-45C7-1ED61401D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10" y="5459361"/>
            <a:ext cx="4826976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2컷 — 새로운 가능성을 바라보는 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동일한 남성이 해질 무렵 도시와 산이 내려다보이는 높은 곳에 서 있다. 채도가 낮은 올리브색 재킷과 단정한 배낭을 착용하고 멀리 펼쳐진 도시와 산을 바라보며 새로운 가능성과 다음 삶을 생각한다. 따뜻한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노을빛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부드러운 푸른 하늘, 머리카락과 옷자락을 살짝 흔드는 바람, 뒤에서 바라본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시네마틱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와이드샷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차분하면서도 희망적인 분위기, 동일한 인물의 얼굴과 인상 유지.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키워드: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가능성 / 여정 / 미래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6F20DE-B5E4-CA2D-D91A-7D127925FC40}"/>
              </a:ext>
            </a:extLst>
          </p:cNvPr>
          <p:cNvSpPr txBox="1"/>
          <p:nvPr/>
        </p:nvSpPr>
        <p:spPr>
          <a:xfrm>
            <a:off x="5369902" y="332351"/>
            <a:ext cx="67107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동일한 남성이 따뜻하고 아늑한 카페 또는 작업실에서 다른 사람과 마주 앉아 깊이 있는 대화를 나눈다</a:t>
            </a:r>
            <a:r>
              <a:rPr lang="en-US" altLang="ko-KR" sz="1200"/>
              <a:t>. </a:t>
            </a:r>
            <a:r>
              <a:rPr lang="ko-KR" altLang="en-US" sz="1200"/>
              <a:t>자연스럽게 손짓하며 자신의 생각을 이야기하고 상대방의 말을 진지하게 듣는다</a:t>
            </a:r>
            <a:r>
              <a:rPr lang="en-US" altLang="ko-KR" sz="1200"/>
              <a:t>. </a:t>
            </a:r>
            <a:r>
              <a:rPr lang="ko-KR" altLang="en-US" sz="1200"/>
              <a:t>창가로 부드러운 오후 햇살이 들어오고 편안한 베이지톤 공간이 따뜻한 인간관계를 강조한다</a:t>
            </a:r>
            <a:r>
              <a:rPr lang="en-US" altLang="ko-KR" sz="1200"/>
              <a:t>. </a:t>
            </a:r>
            <a:r>
              <a:rPr lang="ko-KR" altLang="en-US" sz="1200"/>
              <a:t>시네마틱 다큐멘터리 사진 스타일</a:t>
            </a:r>
            <a:r>
              <a:rPr lang="en-US" altLang="ko-KR" sz="1200"/>
              <a:t>, </a:t>
            </a:r>
            <a:r>
              <a:rPr lang="ko-KR" altLang="en-US" sz="1200"/>
              <a:t>자연광</a:t>
            </a:r>
            <a:r>
              <a:rPr lang="en-US" altLang="ko-KR" sz="1200"/>
              <a:t>, </a:t>
            </a:r>
            <a:r>
              <a:rPr lang="ko-KR" altLang="en-US" sz="1200"/>
              <a:t>미디엄샷</a:t>
            </a:r>
            <a:r>
              <a:rPr lang="en-US" altLang="ko-KR" sz="1200"/>
              <a:t>, </a:t>
            </a:r>
            <a:r>
              <a:rPr lang="ko-KR" altLang="en-US" sz="1200"/>
              <a:t>동일한 인물의 얼굴과 인상 유지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C0AEDC-3592-4E30-9A7C-5E585710CDEE}"/>
              </a:ext>
            </a:extLst>
          </p:cNvPr>
          <p:cNvSpPr txBox="1"/>
          <p:nvPr/>
        </p:nvSpPr>
        <p:spPr>
          <a:xfrm>
            <a:off x="5329896" y="1320618"/>
            <a:ext cx="66318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동일한 남성이 조용한 숲길을 혼자 걷고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높은 나무 아래에서 잠시 멈춰 잎 사이로 들어오는 햇살과 하늘을 바라본다</a:t>
            </a:r>
            <a:r>
              <a:rPr lang="en-US" altLang="ko-KR" sz="1200" dirty="0"/>
              <a:t>. </a:t>
            </a:r>
            <a:r>
              <a:rPr lang="ko-KR" altLang="en-US" sz="1200" dirty="0"/>
              <a:t>표정은 편안하고 사색적이다</a:t>
            </a:r>
            <a:r>
              <a:rPr lang="en-US" altLang="ko-KR" sz="1200" dirty="0"/>
              <a:t>. </a:t>
            </a:r>
            <a:r>
              <a:rPr lang="ko-KR" altLang="en-US" sz="1200" dirty="0"/>
              <a:t>가벼운 바람에 나뭇잎과 옷자락이 자연스럽게 움직이고</a:t>
            </a:r>
            <a:r>
              <a:rPr lang="en-US" altLang="ko-KR" sz="1200" dirty="0"/>
              <a:t>, </a:t>
            </a:r>
            <a:r>
              <a:rPr lang="ko-KR" altLang="en-US" sz="1200" dirty="0"/>
              <a:t>따뜻한 햇살과 부드러운 그림자가 어우러진다</a:t>
            </a:r>
            <a:r>
              <a:rPr lang="en-US" altLang="ko-KR" sz="1200" dirty="0"/>
              <a:t>. </a:t>
            </a:r>
            <a:r>
              <a:rPr lang="ko-KR" altLang="en-US" sz="1200" dirty="0"/>
              <a:t>초록과 골드 계열의 자연스러운 색감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시네마틱</a:t>
            </a:r>
            <a:r>
              <a:rPr lang="ko-KR" altLang="en-US" sz="1200" dirty="0"/>
              <a:t> 환경 인물 사진</a:t>
            </a:r>
            <a:r>
              <a:rPr lang="en-US" altLang="ko-KR" sz="1200" dirty="0"/>
              <a:t>, </a:t>
            </a:r>
            <a:r>
              <a:rPr lang="ko-KR" altLang="en-US" sz="1200" dirty="0"/>
              <a:t>차분하고 회복적인 분위기</a:t>
            </a:r>
            <a:r>
              <a:rPr lang="en-US" altLang="ko-KR" sz="1200" dirty="0"/>
              <a:t>, </a:t>
            </a:r>
            <a:r>
              <a:rPr lang="ko-KR" altLang="en-US" sz="1200" dirty="0"/>
              <a:t>동일한 인물의 얼굴과 인상 유지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EAA99-6853-3603-109D-7D7B268AF889}"/>
              </a:ext>
            </a:extLst>
          </p:cNvPr>
          <p:cNvSpPr txBox="1"/>
          <p:nvPr/>
        </p:nvSpPr>
        <p:spPr>
          <a:xfrm>
            <a:off x="5367952" y="2493551"/>
            <a:ext cx="68220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동일한 남성이 따뜻한 나무 책상 앞에서 노트북을 바라보며 집중해서 자신의 프로젝트를 작업하고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책상에는 노트</a:t>
            </a:r>
            <a:r>
              <a:rPr lang="en-US" altLang="ko-KR" sz="1200" dirty="0"/>
              <a:t>, </a:t>
            </a:r>
            <a:r>
              <a:rPr lang="ko-KR" altLang="en-US" sz="1200" dirty="0"/>
              <a:t>커피잔</a:t>
            </a:r>
            <a:r>
              <a:rPr lang="en-US" altLang="ko-KR" sz="1200" dirty="0"/>
              <a:t>, </a:t>
            </a:r>
            <a:r>
              <a:rPr lang="ko-KR" altLang="en-US" sz="1200" dirty="0"/>
              <a:t>간단한 작업 도구가 놓여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부드러운 아침 햇빛이 책상 위로 내려오며 차분하지만 생산적인 분위기를 만든다</a:t>
            </a:r>
            <a:r>
              <a:rPr lang="en-US" altLang="ko-KR" sz="1200" dirty="0"/>
              <a:t>. </a:t>
            </a:r>
            <a:r>
              <a:rPr lang="ko-KR" altLang="en-US" sz="1200" dirty="0"/>
              <a:t>베이지와 채도가 낮은 그린 색감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시네마틱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에디토리얼</a:t>
            </a:r>
            <a:r>
              <a:rPr lang="ko-KR" altLang="en-US" sz="1200" dirty="0"/>
              <a:t> 사진 스타일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미디엄샷</a:t>
            </a:r>
            <a:r>
              <a:rPr lang="en-US" altLang="ko-KR" sz="1200" dirty="0"/>
              <a:t>, </a:t>
            </a:r>
            <a:r>
              <a:rPr lang="ko-KR" altLang="en-US" sz="1200" dirty="0"/>
              <a:t>자연광</a:t>
            </a:r>
            <a:r>
              <a:rPr lang="en-US" altLang="ko-KR" sz="1200" dirty="0"/>
              <a:t>, </a:t>
            </a:r>
            <a:r>
              <a:rPr lang="ko-KR" altLang="en-US" sz="1200" dirty="0"/>
              <a:t>동일한 인물의 얼굴과 인상 유지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0082A5-E06C-342D-2315-413DFD941562}"/>
              </a:ext>
            </a:extLst>
          </p:cNvPr>
          <p:cNvSpPr txBox="1"/>
          <p:nvPr/>
        </p:nvSpPr>
        <p:spPr>
          <a:xfrm>
            <a:off x="5353417" y="3532461"/>
            <a:ext cx="67107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동일한 남성이 밝고 따뜻한 창작 공간에서 두세 명의 사람들과 테이블에 둘러앉아 아이디어를 나누고 있다</a:t>
            </a:r>
            <a:r>
              <a:rPr lang="en-US" altLang="ko-KR" sz="1200"/>
              <a:t>. </a:t>
            </a:r>
            <a:r>
              <a:rPr lang="ko-KR" altLang="en-US" sz="1200"/>
              <a:t>노트와 간단한 시각 자료를 함께 살펴보며 자연스럽게 미소 짓고 대화한다</a:t>
            </a:r>
            <a:r>
              <a:rPr lang="en-US" altLang="ko-KR" sz="1200"/>
              <a:t>. </a:t>
            </a:r>
            <a:r>
              <a:rPr lang="ko-KR" altLang="en-US" sz="1200"/>
              <a:t>따뜻한 햇살이 실내를 채우고 활기차지만 편안한 협업 분위기가 느껴진다</a:t>
            </a:r>
            <a:r>
              <a:rPr lang="en-US" altLang="ko-KR" sz="1200"/>
              <a:t>. </a:t>
            </a:r>
            <a:r>
              <a:rPr lang="ko-KR" altLang="en-US" sz="1200"/>
              <a:t>시네마틱 다큐멘터리 사진 스타일</a:t>
            </a:r>
            <a:r>
              <a:rPr lang="en-US" altLang="ko-KR" sz="1200"/>
              <a:t>, </a:t>
            </a:r>
            <a:r>
              <a:rPr lang="ko-KR" altLang="en-US" sz="1200"/>
              <a:t>미디엄 와이드샷</a:t>
            </a:r>
            <a:r>
              <a:rPr lang="en-US" altLang="ko-KR" sz="1200"/>
              <a:t>, </a:t>
            </a:r>
            <a:r>
              <a:rPr lang="ko-KR" altLang="en-US" sz="1200"/>
              <a:t>따뜻한 중성색</a:t>
            </a:r>
            <a:r>
              <a:rPr lang="en-US" altLang="ko-KR" sz="1200"/>
              <a:t>, </a:t>
            </a:r>
            <a:r>
              <a:rPr lang="ko-KR" altLang="en-US" sz="1200"/>
              <a:t>동일한 인물의 얼굴과 인상 유지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A38AA7-A820-BB9D-6E31-3B21A3109DD3}"/>
              </a:ext>
            </a:extLst>
          </p:cNvPr>
          <p:cNvSpPr txBox="1"/>
          <p:nvPr/>
        </p:nvSpPr>
        <p:spPr>
          <a:xfrm>
            <a:off x="5294213" y="4571371"/>
            <a:ext cx="68621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동일한 남성이 따뜻하고 현대적인 작은 워크숍 공간에서 사람들 앞에 서서 차분하게 이야기하고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한 손으로 자연스럽게 제스처를 하며 설명하고</a:t>
            </a:r>
            <a:r>
              <a:rPr lang="en-US" altLang="ko-KR" sz="1200" dirty="0"/>
              <a:t>, </a:t>
            </a:r>
            <a:r>
              <a:rPr lang="ko-KR" altLang="en-US" sz="1200" dirty="0"/>
              <a:t>청중은 집중해서 그의 이야기를 듣고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자연광과 부드러운 조명이 인물을 비추며 과장된 자신감이 아니라 조용하고 안정된 자신감을 보여준다</a:t>
            </a:r>
            <a:r>
              <a:rPr lang="en-US" altLang="ko-KR" sz="1200" dirty="0"/>
              <a:t>. </a:t>
            </a:r>
            <a:r>
              <a:rPr lang="ko-KR" altLang="en-US" sz="1200" dirty="0"/>
              <a:t>베이지와 브라운 계열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시네마틱</a:t>
            </a:r>
            <a:r>
              <a:rPr lang="ko-KR" altLang="en-US" sz="1200" dirty="0"/>
              <a:t> 다큐멘터리 사진 스타일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미디엄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와이드샷</a:t>
            </a:r>
            <a:r>
              <a:rPr lang="en-US" altLang="ko-KR" sz="1200" dirty="0"/>
              <a:t>, </a:t>
            </a:r>
            <a:r>
              <a:rPr lang="ko-KR" altLang="en-US" sz="1200" dirty="0"/>
              <a:t>친근하면서도 전문적인 분위기</a:t>
            </a:r>
            <a:r>
              <a:rPr lang="en-US" altLang="ko-KR" sz="1200" dirty="0"/>
              <a:t>, </a:t>
            </a:r>
            <a:r>
              <a:rPr lang="ko-KR" altLang="en-US" sz="1200" dirty="0"/>
              <a:t>동일한 인물의 얼굴과 인상 유지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3DFBB5-6301-2A1E-FD47-500E9F9B3242}"/>
              </a:ext>
            </a:extLst>
          </p:cNvPr>
          <p:cNvSpPr txBox="1"/>
          <p:nvPr/>
        </p:nvSpPr>
        <p:spPr>
          <a:xfrm>
            <a:off x="5270450" y="5815697"/>
            <a:ext cx="67507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동일한 남성이 골든아워의 잔잔한 강이나 호숫가에 앉아 멀리 보이는 도시와 산을 바라보고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하늘은 따뜻한 </a:t>
            </a:r>
            <a:r>
              <a:rPr lang="ko-KR" altLang="en-US" sz="1200" dirty="0" err="1"/>
              <a:t>오렌지빛과</a:t>
            </a:r>
            <a:r>
              <a:rPr lang="ko-KR" altLang="en-US" sz="1200" dirty="0"/>
              <a:t> 부드러운 푸른빛이 섞여 있고 그 빛이 물 위에 반사된다</a:t>
            </a:r>
            <a:r>
              <a:rPr lang="en-US" altLang="ko-KR" sz="1200" dirty="0"/>
              <a:t>. </a:t>
            </a:r>
            <a:r>
              <a:rPr lang="ko-KR" altLang="en-US" sz="1200" dirty="0"/>
              <a:t>표정과 자세에서는 평온함</a:t>
            </a:r>
            <a:r>
              <a:rPr lang="en-US" altLang="ko-KR" sz="1200" dirty="0"/>
              <a:t>, </a:t>
            </a:r>
            <a:r>
              <a:rPr lang="ko-KR" altLang="en-US" sz="1200" dirty="0"/>
              <a:t>만족감</a:t>
            </a:r>
            <a:r>
              <a:rPr lang="en-US" altLang="ko-KR" sz="1200" dirty="0"/>
              <a:t>, </a:t>
            </a:r>
            <a:r>
              <a:rPr lang="ko-KR" altLang="en-US" sz="1200" dirty="0"/>
              <a:t>그리고 앞으로의 삶에 대한 조용한 기대가 느껴진다</a:t>
            </a:r>
            <a:r>
              <a:rPr lang="en-US" altLang="ko-KR" sz="1200" dirty="0"/>
              <a:t>. </a:t>
            </a:r>
            <a:r>
              <a:rPr lang="ko-KR" altLang="en-US" sz="1200" dirty="0"/>
              <a:t>옆모습 중심의 </a:t>
            </a:r>
            <a:r>
              <a:rPr lang="ko-KR" altLang="en-US" sz="1200" dirty="0" err="1"/>
              <a:t>시네마틱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와이드샷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미니멀한</a:t>
            </a:r>
            <a:r>
              <a:rPr lang="ko-KR" altLang="en-US" sz="1200" dirty="0"/>
              <a:t> 구성</a:t>
            </a:r>
            <a:r>
              <a:rPr lang="en-US" altLang="ko-KR" sz="1200" dirty="0"/>
              <a:t>, </a:t>
            </a:r>
            <a:r>
              <a:rPr lang="ko-KR" altLang="en-US" sz="1200" dirty="0"/>
              <a:t>감성적이지만 절제된 분위기</a:t>
            </a:r>
            <a:r>
              <a:rPr lang="en-US" altLang="ko-KR" sz="1200" dirty="0"/>
              <a:t>, </a:t>
            </a:r>
            <a:r>
              <a:rPr lang="ko-KR" altLang="en-US" sz="1200" dirty="0"/>
              <a:t>은은한 수채화 질감</a:t>
            </a:r>
            <a:r>
              <a:rPr lang="en-US" altLang="ko-KR" sz="1200" dirty="0"/>
              <a:t>, </a:t>
            </a:r>
            <a:r>
              <a:rPr lang="ko-KR" altLang="en-US" sz="1200" dirty="0"/>
              <a:t>동일한 인물의 얼굴과 인상 유지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E01EE-11F9-0BAA-CA7E-14DFF5526DE1}"/>
              </a:ext>
            </a:extLst>
          </p:cNvPr>
          <p:cNvSpPr txBox="1"/>
          <p:nvPr/>
        </p:nvSpPr>
        <p:spPr>
          <a:xfrm>
            <a:off x="5359086" y="26640"/>
            <a:ext cx="3334040" cy="30777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400"/>
              <a:t>3</a:t>
            </a:r>
            <a:r>
              <a:rPr lang="ko-KR" altLang="en-US" sz="1400"/>
              <a:t>컷 </a:t>
            </a:r>
            <a:r>
              <a:rPr lang="en-US" altLang="ko-KR" sz="1400"/>
              <a:t>— </a:t>
            </a:r>
            <a:r>
              <a:rPr lang="ko-KR" altLang="en-US" sz="1400"/>
              <a:t>사람과 이야기하는 나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FB6E5-D2FE-2C09-F5F7-DCD170DB7438}"/>
              </a:ext>
            </a:extLst>
          </p:cNvPr>
          <p:cNvSpPr txBox="1"/>
          <p:nvPr/>
        </p:nvSpPr>
        <p:spPr>
          <a:xfrm>
            <a:off x="5355033" y="1059073"/>
            <a:ext cx="3334040" cy="30777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400" dirty="0"/>
              <a:t>4</a:t>
            </a:r>
            <a:r>
              <a:rPr lang="ko-KR" altLang="en-US" sz="1400" dirty="0"/>
              <a:t>컷 </a:t>
            </a:r>
            <a:r>
              <a:rPr lang="en-US" altLang="ko-KR" sz="1400" dirty="0"/>
              <a:t>— </a:t>
            </a:r>
            <a:r>
              <a:rPr lang="ko-KR" altLang="en-US" sz="1400" dirty="0"/>
              <a:t>자연 속에서 생각을 정리하는 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FFE60-DA8F-71A7-7F97-7DD487AA3FFB}"/>
              </a:ext>
            </a:extLst>
          </p:cNvPr>
          <p:cNvSpPr txBox="1"/>
          <p:nvPr/>
        </p:nvSpPr>
        <p:spPr>
          <a:xfrm>
            <a:off x="5367952" y="2194942"/>
            <a:ext cx="3334040" cy="30777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400" dirty="0"/>
              <a:t>5</a:t>
            </a:r>
            <a:r>
              <a:rPr lang="ko-KR" altLang="en-US" sz="1400" dirty="0"/>
              <a:t>컷 </a:t>
            </a:r>
            <a:r>
              <a:rPr lang="en-US" altLang="ko-KR" sz="1400" dirty="0"/>
              <a:t>— </a:t>
            </a:r>
            <a:r>
              <a:rPr lang="ko-KR" altLang="en-US" sz="1400" dirty="0"/>
              <a:t>몰입해서 일하는 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E44E9D-C0C8-0853-3B9F-86B72A75FA8C}"/>
              </a:ext>
            </a:extLst>
          </p:cNvPr>
          <p:cNvSpPr txBox="1"/>
          <p:nvPr/>
        </p:nvSpPr>
        <p:spPr>
          <a:xfrm>
            <a:off x="5338762" y="3268637"/>
            <a:ext cx="3324474" cy="30777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400" dirty="0"/>
              <a:t>6</a:t>
            </a:r>
            <a:r>
              <a:rPr lang="ko-KR" altLang="en-US" sz="1400" dirty="0"/>
              <a:t>컷 </a:t>
            </a:r>
            <a:r>
              <a:rPr lang="en-US" altLang="ko-KR" sz="1400" dirty="0"/>
              <a:t>— </a:t>
            </a:r>
            <a:r>
              <a:rPr lang="ko-KR" altLang="en-US" sz="1400" dirty="0"/>
              <a:t>함께 아이디어를 만드는 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5CD43D-116A-222A-83A9-694EBBA0176B}"/>
              </a:ext>
            </a:extLst>
          </p:cNvPr>
          <p:cNvSpPr txBox="1"/>
          <p:nvPr/>
        </p:nvSpPr>
        <p:spPr>
          <a:xfrm>
            <a:off x="5309571" y="4292601"/>
            <a:ext cx="4080613" cy="30777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400" dirty="0"/>
              <a:t>7</a:t>
            </a:r>
            <a:r>
              <a:rPr lang="ko-KR" altLang="en-US" sz="1400" dirty="0"/>
              <a:t>컷 </a:t>
            </a:r>
            <a:r>
              <a:rPr lang="en-US" altLang="ko-KR" sz="1400" dirty="0"/>
              <a:t>— </a:t>
            </a:r>
            <a:r>
              <a:rPr lang="ko-KR" altLang="en-US" sz="1400" dirty="0"/>
              <a:t>나의 경험을 다른 사람에게 전하는 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B27854-A27B-A355-A39E-5BD7CBC29063}"/>
              </a:ext>
            </a:extLst>
          </p:cNvPr>
          <p:cNvSpPr txBox="1"/>
          <p:nvPr/>
        </p:nvSpPr>
        <p:spPr>
          <a:xfrm>
            <a:off x="5309572" y="5539424"/>
            <a:ext cx="3324474" cy="30777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400" dirty="0"/>
              <a:t>8</a:t>
            </a:r>
            <a:r>
              <a:rPr lang="ko-KR" altLang="en-US" sz="1400" dirty="0"/>
              <a:t>컷 </a:t>
            </a:r>
            <a:r>
              <a:rPr lang="en-US" altLang="ko-KR" sz="1400" dirty="0"/>
              <a:t>— </a:t>
            </a:r>
            <a:r>
              <a:rPr lang="ko-KR" altLang="en-US" sz="1400" dirty="0"/>
              <a:t>앞으로의 나를 바라보는 엔딩</a:t>
            </a:r>
          </a:p>
        </p:txBody>
      </p:sp>
    </p:spTree>
    <p:extLst>
      <p:ext uri="{BB962C8B-B14F-4D97-AF65-F5344CB8AC3E}">
        <p14:creationId xmlns:p14="http://schemas.microsoft.com/office/powerpoint/2010/main" val="49223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</a:t>
            </a: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100" b="1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컷부터</a:t>
            </a: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이미지로 생성합니다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느린 분은 4컷, 빠른 분은 8컷까지 진행합니다.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52344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17320" y="27340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 장면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3355848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10712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33924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나의 등장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14400" y="4014216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69080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17320" y="4050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감정 변화 또는 행동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14400" y="4672584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727448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17320" y="4709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 장면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26364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 규칙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26517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647688" y="26654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이미지는 다운로드 또는 캡처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263640" y="312724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647688" y="31409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파일명: 01_시작, 02_공간처럼 정리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263640" y="36027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6647688" y="36164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패들렛에 핵심 </a:t>
            </a:r>
            <a:r>
              <a:rPr lang="en-US" sz="175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</a:t>
            </a:r>
            <a:r>
              <a:rPr 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4~8</a:t>
            </a:r>
            <a:r>
              <a:rPr lang="ko-KR" alt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</a:t>
            </a:r>
            <a:r>
              <a:rPr 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업로드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6263640" y="407822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647688" y="40919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마음에 드는 이미지를 표시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3840480" y="5623560"/>
            <a:ext cx="4480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시간 40분</a:t>
            </a:r>
            <a:endParaRPr lang="en-US" sz="2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14</a:t>
            </a:r>
            <a:endParaRPr lang="en-US" sz="850" dirty="0"/>
          </a:p>
        </p:txBody>
      </p:sp>
      <p:pic>
        <p:nvPicPr>
          <p:cNvPr id="3" name="Image 0" descr="/mnt/data/a_cozy_cinematic_softly_lit_interior_scene_with_16x9_dark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58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B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Suno로 넘어가기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" y="1298448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이번에는 나를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“소리”로 표현합니다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13232" y="2834640"/>
            <a:ext cx="6725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7F2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퍼스널 비주얼의 키워드와 분위기를 음악 언어로 바꿔봅니다.</a:t>
            </a:r>
            <a:endParaRPr lang="en-US" sz="19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2FE402B-2F95-C51F-7D54-E630F78ED608}"/>
              </a:ext>
            </a:extLst>
          </p:cNvPr>
          <p:cNvSpPr/>
          <p:nvPr/>
        </p:nvSpPr>
        <p:spPr>
          <a:xfrm>
            <a:off x="9689123" y="5380892"/>
            <a:ext cx="1999957" cy="11386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ＳＵＮＯ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특강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음악스타일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기초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삽입용</a:t>
            </a:r>
          </a:p>
        </p:txBody>
      </p:sp>
      <p:sp>
        <p:nvSpPr>
          <p:cNvPr id="10" name="실행 단추: 앞으로 또는 다음으로 이동 9">
            <a:hlinkClick r:id="rId4" action="ppaction://hlinkpres?slideindex=1&amp;slidetitle=PowerPoint 프레젠테이션" highlightClick="1"/>
            <a:extLst>
              <a:ext uri="{FF2B5EF4-FFF2-40B4-BE49-F238E27FC236}">
                <a16:creationId xmlns:a16="http://schemas.microsoft.com/office/drawing/2014/main" id="{2F01FD7A-2B32-D40A-A61E-2A75E3382556}"/>
              </a:ext>
            </a:extLst>
          </p:cNvPr>
          <p:cNvSpPr/>
          <p:nvPr/>
        </p:nvSpPr>
        <p:spPr>
          <a:xfrm>
            <a:off x="11689080" y="6400800"/>
            <a:ext cx="347589" cy="310896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 기본형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기본형: Instrumental 배경음악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가사가 부담스러운 분에게 가장 안정적인 선택입니다.</a:t>
            </a:r>
            <a:endParaRPr lang="en-US" sz="1600" dirty="0"/>
          </a:p>
        </p:txBody>
      </p:sp>
      <p:pic>
        <p:nvPicPr>
          <p:cNvPr id="6" name="Image 0" descr="/mnt/data/a_cozy_cinematic_softly_lit_interior_scene_with_16x9.jpg"/>
          <p:cNvPicPr>
            <a:picLocks noChangeAspect="1"/>
          </p:cNvPicPr>
          <p:nvPr/>
        </p:nvPicPr>
        <p:blipFill>
          <a:blip r:embed="rId3"/>
          <a:srcRect t="79" b="79"/>
          <a:stretch/>
        </p:blipFill>
        <p:spPr>
          <a:xfrm>
            <a:off x="6537960" y="1938528"/>
            <a:ext cx="4526280" cy="2542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대상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252728" y="26654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초보자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252728" y="31683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배경음악이 필요한 분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68680" y="365760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252728" y="3671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자르기 쉬운 음악을 원하는 분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68680" y="4251960"/>
            <a:ext cx="21945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방향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" y="4617720"/>
            <a:ext cx="50292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warm, calm, hopeful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cinematic instrumental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gentle piano, acoustic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reflective, peaceful mood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 확장형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확장형: 나를 위한 짧은 노래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메시지를 가사로 담고 싶은 분을 위한 선택입니다.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권장 구성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B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91640" y="2715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Verse 4줄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B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91640" y="33741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Chorus 4줄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9684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B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4032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Outro 1~2줄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2148840"/>
            <a:ext cx="5120640" cy="2011680"/>
          </a:xfrm>
          <a:prstGeom prst="rect">
            <a:avLst/>
          </a:prstGeom>
          <a:solidFill>
            <a:srgbClr val="F6EFE3"/>
          </a:solidFill>
          <a:ln w="12700">
            <a:solidFill>
              <a:srgbClr val="EADDCB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404872"/>
            <a:ext cx="45354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조용한 새벽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오늘도 나를 만든다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서두르지 않아도 괜찮다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배움이 빛이 된다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10332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영상용 음악이므로 가사는 짧고 선명하게 씁니다.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 프롬프트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기본형과 확장형 중 하나를 선택하세요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수강생 속도와 취향에 따라 둘 다 정답입니다.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074920" cy="283464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기본형 예시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44805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따뜻한 성장과 조용한 자신감을 표현하는 감성적인 피아노 중심 시네마틱 연주곡. 차분하지만 희망적인 분위기, 새로운 시작의 느낌.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074920" cy="283464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423160"/>
            <a:ext cx="2286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확장형 예시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944368"/>
            <a:ext cx="44805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soft cinematic song, warm gentle vocal, short reflective lyrics about quiet growth, learning, and a new beginning. Emotional but not overly dramatic.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음악 길이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2분짜리 음악에서 나의 1분 찾기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 곡 전체를 다 쓰지 않아도 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971800"/>
            <a:ext cx="10332720" cy="502920"/>
          </a:xfrm>
          <a:prstGeom prst="rect">
            <a:avLst/>
          </a:prstGeom>
          <a:solidFill>
            <a:srgbClr val="DCEFEB"/>
          </a:solidFill>
          <a:ln w="12700">
            <a:solidFill>
              <a:srgbClr val="DCEF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2971800"/>
            <a:ext cx="4572000" cy="502920"/>
          </a:xfrm>
          <a:prstGeom prst="rect">
            <a:avLst/>
          </a:prstGeom>
          <a:solidFill>
            <a:srgbClr val="1E6F75"/>
          </a:solidFill>
          <a:ln w="12700">
            <a:solidFill>
              <a:srgbClr val="1E6F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곡 2:30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63240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구간 예: 0:20 ~ 1:10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101498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영상에는 45~60초만 사용하고, 나머지는 4회차 편집에서 자릅니다.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143000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만든 결과를 전부 쓰는 것이 아니라, 내가 필요한 부분을 고르는 것도 창작입니다.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19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음악-컷 매칭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음악에 맞춰 8컷 길이를 다시 정리합니다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4회차 편집이 쉬워지는 가장 중요한 준비입니다.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48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음악 위치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예상 길이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935224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2935224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잔잔한 전주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935224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64408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3264408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리듬 시작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264408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593592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0" y="3593592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멜로디 진행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922776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28800" y="3922776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분위기 상승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3922776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51960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고조 구간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4251960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581144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4581144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클라이맥스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4581144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910328"/>
            <a:ext cx="411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28800" y="4910328"/>
            <a:ext cx="2286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 구간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4910328"/>
            <a:ext cx="822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2560320"/>
            <a:ext cx="4526280" cy="2057400"/>
          </a:xfrm>
          <a:prstGeom prst="rect">
            <a:avLst/>
          </a:prstGeom>
          <a:solidFill>
            <a:srgbClr val="F6EFE3"/>
          </a:solidFill>
          <a:ln w="12700">
            <a:solidFill>
              <a:srgbClr val="EADDCB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2816352"/>
            <a:ext cx="394106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음악이 올라가는 순간에는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중요한 장면을 둡니다.</a:t>
            </a:r>
            <a:endParaRPr lang="en-US" sz="2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20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 음악 만들고 사용할 구간 표시하기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기본형 또는 확장형 중 하나로 진행합니다.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52728" y="22539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Suno에서 음악 1곡 생성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52728" y="27843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곡을 끝까지 들어보기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3009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52728" y="33147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영상에 쓸 45~60초 구간 고르기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8313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52728" y="38450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8컷 표에 음악 위치와 예상 길이 적기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3616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52728" y="437540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패들렛에 음악 링크 또는 파일 기록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5394960"/>
            <a:ext cx="98755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기준: 내 퍼스널 비주얼의 분위기와 가장 잘 맞는 구간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21</a:t>
            </a:r>
            <a:endParaRPr lang="en-US" sz="850" dirty="0"/>
          </a:p>
        </p:txBody>
      </p:sp>
      <p:pic>
        <p:nvPicPr>
          <p:cNvPr id="3" name="Image 0" descr="/mnt/data/a_warm_cinematic_photorealistic_concept_illustra_16x9_dark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B36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3회차 끝부분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" y="1298448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Flow와 Seedance는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“맛보기”만 합니다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13232" y="2907792"/>
            <a:ext cx="68745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7F2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목표는 결과물 완성이 아니라 사이트 환경에 익숙해지는 것입니다.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7F2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본격 활용은 4회차에서 진행합니다.</a:t>
            </a:r>
            <a:endParaRPr lang="en-US" sz="1900" dirty="0"/>
          </a:p>
        </p:txBody>
      </p:sp>
      <p:sp>
        <p:nvSpPr>
          <p:cNvPr id="7" name="실행 단추: 앞으로 또는 다음으로 이동 6">
            <a:hlinkClick r:id="rId4" action="ppaction://hlinkpres?slideindex=1&amp;slidetitle=PowerPoint 프레젠테이션" highlightClick="1"/>
            <a:extLst>
              <a:ext uri="{FF2B5EF4-FFF2-40B4-BE49-F238E27FC236}">
                <a16:creationId xmlns:a16="http://schemas.microsoft.com/office/drawing/2014/main" id="{E55489BC-CF1E-4F9F-0556-72ADA547B5A9}"/>
              </a:ext>
            </a:extLst>
          </p:cNvPr>
          <p:cNvSpPr/>
          <p:nvPr/>
        </p:nvSpPr>
        <p:spPr>
          <a:xfrm>
            <a:off x="11087100" y="6216162"/>
            <a:ext cx="601980" cy="38686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2A901F6-96B5-06D0-8AAA-49EC6B609373}"/>
              </a:ext>
            </a:extLst>
          </p:cNvPr>
          <p:cNvSpPr/>
          <p:nvPr/>
        </p:nvSpPr>
        <p:spPr>
          <a:xfrm>
            <a:off x="9574823" y="4987437"/>
            <a:ext cx="1999957" cy="11386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영상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특강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22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Flow 맛보기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63410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Flow: 화면을 열고 구조를 익힙니다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오늘은 “어디에 무엇을 넣는지”만 익히면 충분합니다.</a:t>
            </a:r>
            <a:endParaRPr lang="en-US" sz="1600" dirty="0"/>
          </a:p>
        </p:txBody>
      </p:sp>
      <p:pic>
        <p:nvPicPr>
          <p:cNvPr id="6" name="Image 0" descr="/mnt/data/a_cinematic_softly_lit_creative_workspace_scene_16x9.jpg"/>
          <p:cNvPicPr>
            <a:picLocks noChangeAspect="1"/>
          </p:cNvPicPr>
          <p:nvPr/>
        </p:nvPicPr>
        <p:blipFill>
          <a:blip r:embed="rId3"/>
          <a:srcRect t="79" b="79"/>
          <a:stretch/>
        </p:blipFill>
        <p:spPr>
          <a:xfrm>
            <a:off x="6629400" y="2057400"/>
            <a:ext cx="4526280" cy="2542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2240280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295144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71600" y="22768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접속 및 로그인 확인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68680" y="2770632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825496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371600" y="2807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프로젝트 또는 생성 화면 열기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68680" y="3300984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355848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71600" y="3337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입력 위치 확인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68680" y="3831336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886200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371600" y="38679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이미지/장면 기반 생성 방식 확인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868680" y="4361688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416552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371600" y="43982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예제 1개 실행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914400" y="5559552"/>
            <a:ext cx="10241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목표: “어, 이 화면은 낯설지 </a:t>
            </a:r>
            <a:r>
              <a:rPr lang="en-US" sz="1800" b="1" dirty="0" err="1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않다</a:t>
            </a:r>
            <a:r>
              <a:rPr lang="en-US" sz="18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”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23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Seedance 맛보기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79" y="804672"/>
            <a:ext cx="81346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Seedance: 이미지에 움직임을 붙이는 감각 익히기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4회차에는 각자의 8컷 이미지를 실제 영상으로 바꿉니다.</a:t>
            </a:r>
            <a:endParaRPr lang="en-US" sz="1600" dirty="0"/>
          </a:p>
        </p:txBody>
      </p:sp>
      <p:pic>
        <p:nvPicPr>
          <p:cNvPr id="6" name="Image 0" descr="/mnt/data/a_warm_cinematic_photorealistic_concept_illustra_16x9.jpg"/>
          <p:cNvPicPr>
            <a:picLocks noChangeAspect="1"/>
          </p:cNvPicPr>
          <p:nvPr/>
        </p:nvPicPr>
        <p:blipFill>
          <a:blip r:embed="rId3"/>
          <a:srcRect t="79" b="79"/>
          <a:stretch/>
        </p:blipFill>
        <p:spPr>
          <a:xfrm>
            <a:off x="6629400" y="2057400"/>
            <a:ext cx="4526280" cy="2542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2240280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295144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71600" y="22768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접속 및 기본 화면 확인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68680" y="2770632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825496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371600" y="2807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업로드/프롬프트 위치 확인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68680" y="3300984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355848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71600" y="3337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길이와 비율 확인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68680" y="3831336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886200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371600" y="38679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움직임 프롬프트 입력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868680" y="4361688"/>
            <a:ext cx="338328" cy="338328"/>
          </a:xfrm>
          <a:prstGeom prst="ellipse">
            <a:avLst/>
          </a:prstGeom>
          <a:solidFill>
            <a:srgbClr val="1E6F75"/>
          </a:solidFill>
          <a:ln w="12700">
            <a:solidFill>
              <a:srgbClr val="1E6F7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416552"/>
            <a:ext cx="338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371600" y="43982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확인 후 다시 수정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914400" y="5559552"/>
            <a:ext cx="10241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오늘은 한 장만 움직여 봅니다. 8컷 전체 영상화는 다음 시간에 진행합니다.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24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프롬프트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프롬프트와 영상 프롬프트의 차이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영상은 “무엇이 어떻게 움직이는가”를 써야 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5074920" cy="2148840"/>
          </a:xfrm>
          <a:prstGeom prst="rect">
            <a:avLst/>
          </a:prstGeom>
          <a:solidFill>
            <a:srgbClr val="F1F8F7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 프롬프트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1097280" y="3127248"/>
            <a:ext cx="4480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 보이는가</a:t>
            </a:r>
            <a:endParaRPr lang="en-US" sz="2000" b="1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인물 · 공간 · 빛 · 색감 · 스타일</a:t>
            </a:r>
            <a:endParaRPr lang="en-US" sz="2000" b="1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074920" cy="2148840"/>
          </a:xfrm>
          <a:prstGeom prst="rect">
            <a:avLst/>
          </a:prstGeom>
          <a:solidFill>
            <a:srgbClr val="FFF8EC"/>
          </a:solidFill>
          <a:ln w="12700">
            <a:solidFill>
              <a:srgbClr val="E0D8CC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프롬프트</a:t>
            </a:r>
            <a:endParaRPr lang="en-US" sz="2000" b="1" dirty="0"/>
          </a:p>
        </p:txBody>
      </p:sp>
      <p:sp>
        <p:nvSpPr>
          <p:cNvPr id="11" name="Text 9"/>
          <p:cNvSpPr/>
          <p:nvPr/>
        </p:nvSpPr>
        <p:spPr>
          <a:xfrm>
            <a:off x="6492240" y="3127248"/>
            <a:ext cx="4480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 어떻게 움직이는가</a:t>
            </a:r>
            <a:endParaRPr lang="en-US" sz="2000" b="1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인물 움직임 · 배경 움직임 · 카메라 움직임</a:t>
            </a:r>
            <a:endParaRPr lang="en-US" sz="2000" b="1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10332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인물은 천천히 창밖을 바라보고, 커튼이 살짝 흔들리며, 카메라는 아주 천천히 앞으로 이동한다.</a:t>
            </a:r>
            <a:endParaRPr lang="en-US" sz="1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25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맛보기 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예제로 Flow/Seedance를 한 번씩 열어봅니다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완성도보다 “경험”이 목표입니다.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0378440" cy="1828800"/>
          </a:xfrm>
          <a:prstGeom prst="rect">
            <a:avLst/>
          </a:prstGeom>
          <a:solidFill>
            <a:srgbClr val="F6EFE3"/>
          </a:solidFill>
          <a:ln w="12700">
            <a:solidFill>
              <a:srgbClr val="EADDCB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2404872"/>
            <a:ext cx="9793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창가에 앉아 있는 인물이 천천히 창밖을 바라본다.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얇은 커튼이 살짝 흔들리고,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카메라는 아주 천천히 앞으로 이동한다.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6012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확인할 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80060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44168" y="48143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프롬프트를 어디에 넣는가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51937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44168" y="52075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이미지는 어디서 업로드하는가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55869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44168" y="56007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결과는 어디에서 확인하는가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598017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44168" y="59938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마음에 안 들면 어떤 말을 바꾸면 되는가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Re-Born AI 작업실 · 3회차  |  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시간에는 실제로 움직입니다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만든 재료가 4회차 영상 제작의 출발점입니다.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52728" y="22539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8컷 스토리라인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52728" y="27843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이미지 4~8장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3009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52728" y="33147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 음악 1곡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8313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52728" y="38450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사용할 음악 구간 45~60초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3616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6F7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52728" y="43754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Flow/Seedance 맛보기 경험</a:t>
            </a:r>
            <a:endParaRPr lang="en-US" sz="2000" dirty="0"/>
          </a:p>
        </p:txBody>
      </p:sp>
      <p:pic>
        <p:nvPicPr>
          <p:cNvPr id="16" name="Image 0" descr="/mnt/data/a_cinematic_softly_lit_creative_workspace_scene_16x9.jpg"/>
          <p:cNvPicPr>
            <a:picLocks noChangeAspect="1"/>
          </p:cNvPicPr>
          <p:nvPr/>
        </p:nvPicPr>
        <p:blipFill>
          <a:blip r:embed="rId3"/>
          <a:srcRect t="79" b="79"/>
          <a:stretch/>
        </p:blipFill>
        <p:spPr>
          <a:xfrm>
            <a:off x="6629400" y="2057400"/>
            <a:ext cx="4526280" cy="2542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5C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4회차 예고: 8컷 이미지를 영상 클립으로 만들고, 음악에 맞춰 1차 영상을 완성합니다.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2616</Words>
  <Application>Microsoft Office PowerPoint</Application>
  <PresentationFormat>와이드스크린</PresentationFormat>
  <Paragraphs>493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Re-Born AI 작업실 3회차</dc:title>
  <dc:subject>Re-Born AI 작업실 3회차 강의자료</dc:subject>
  <dc:creator>OpenAI</dc:creator>
  <cp:lastModifiedBy>Administrator</cp:lastModifiedBy>
  <cp:revision>8</cp:revision>
  <dcterms:created xsi:type="dcterms:W3CDTF">2026-08-10T06:21:57Z</dcterms:created>
  <dcterms:modified xsi:type="dcterms:W3CDTF">2026-08-11T12:35:41Z</dcterms:modified>
</cp:coreProperties>
</file>